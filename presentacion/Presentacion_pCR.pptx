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60" r:id="rId5"/>
    <p:sldId id="280" r:id="rId6"/>
    <p:sldId id="284" r:id="rId7"/>
    <p:sldId id="283" r:id="rId8"/>
    <p:sldId id="282" r:id="rId9"/>
    <p:sldId id="281" r:id="rId10"/>
    <p:sldId id="279" r:id="rId11"/>
  </p:sldIdLst>
  <p:sldSz cx="12192000" cy="6858000"/>
  <p:notesSz cx="7099300" cy="10234613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60AB"/>
    <a:srgbClr val="065CA9"/>
    <a:srgbClr val="0A849F"/>
    <a:srgbClr val="2F52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9FF113-18B1-4199-BECE-1CF61A95F0F8}" v="1" dt="2025-09-14T11:43:24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/>
    <p:restoredTop sz="94648"/>
  </p:normalViewPr>
  <p:slideViewPr>
    <p:cSldViewPr snapToGrid="0">
      <p:cViewPr varScale="1">
        <p:scale>
          <a:sx n="97" d="100"/>
          <a:sy n="97" d="100"/>
        </p:scale>
        <p:origin x="1110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into Velasco Rebolledo" userId="00c16d92-95bd-422a-9db4-b068f123e6b5" providerId="ADAL" clId="{49660F42-3C57-4A2B-BBDF-092BBF142813}"/>
    <pc:docChg chg="modSld">
      <pc:chgData name="Jacinto Velasco Rebolledo" userId="00c16d92-95bd-422a-9db4-b068f123e6b5" providerId="ADAL" clId="{49660F42-3C57-4A2B-BBDF-092BBF142813}" dt="2025-09-14T11:43:55.495" v="2" actId="2711"/>
      <pc:docMkLst>
        <pc:docMk/>
      </pc:docMkLst>
      <pc:sldChg chg="modSp mod">
        <pc:chgData name="Jacinto Velasco Rebolledo" userId="00c16d92-95bd-422a-9db4-b068f123e6b5" providerId="ADAL" clId="{49660F42-3C57-4A2B-BBDF-092BBF142813}" dt="2025-09-14T11:43:45.945" v="1" actId="14100"/>
        <pc:sldMkLst>
          <pc:docMk/>
          <pc:sldMk cId="3644063140" sldId="260"/>
        </pc:sldMkLst>
        <pc:spChg chg="mod">
          <ac:chgData name="Jacinto Velasco Rebolledo" userId="00c16d92-95bd-422a-9db4-b068f123e6b5" providerId="ADAL" clId="{49660F42-3C57-4A2B-BBDF-092BBF142813}" dt="2025-09-14T11:43:42.098" v="0" actId="2711"/>
          <ac:spMkLst>
            <pc:docMk/>
            <pc:sldMk cId="3644063140" sldId="260"/>
            <ac:spMk id="2" creationId="{8AA243A7-AFC0-B88E-E363-1E709C1BB91E}"/>
          </ac:spMkLst>
        </pc:spChg>
        <pc:spChg chg="mod">
          <ac:chgData name="Jacinto Velasco Rebolledo" userId="00c16d92-95bd-422a-9db4-b068f123e6b5" providerId="ADAL" clId="{49660F42-3C57-4A2B-BBDF-092BBF142813}" dt="2025-09-14T11:43:45.945" v="1" actId="14100"/>
          <ac:spMkLst>
            <pc:docMk/>
            <pc:sldMk cId="3644063140" sldId="260"/>
            <ac:spMk id="12" creationId="{D2B11345-E8EA-ACC7-79CF-9FA1F48C198A}"/>
          </ac:spMkLst>
        </pc:spChg>
      </pc:sldChg>
      <pc:sldChg chg="modSp mod">
        <pc:chgData name="Jacinto Velasco Rebolledo" userId="00c16d92-95bd-422a-9db4-b068f123e6b5" providerId="ADAL" clId="{49660F42-3C57-4A2B-BBDF-092BBF142813}" dt="2025-09-14T11:43:55.495" v="2" actId="2711"/>
        <pc:sldMkLst>
          <pc:docMk/>
          <pc:sldMk cId="110221906" sldId="279"/>
        </pc:sldMkLst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2" creationId="{AD7A7B74-ACDE-3952-607E-91F98A156E41}"/>
          </ac:spMkLst>
        </pc:spChg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7" creationId="{49E18F14-67C1-03FD-1B54-7C091E7B083A}"/>
          </ac:spMkLst>
        </pc:spChg>
        <pc:spChg chg="mod">
          <ac:chgData name="Jacinto Velasco Rebolledo" userId="00c16d92-95bd-422a-9db4-b068f123e6b5" providerId="ADAL" clId="{49660F42-3C57-4A2B-BBDF-092BBF142813}" dt="2025-09-14T11:43:55.495" v="2" actId="2711"/>
          <ac:spMkLst>
            <pc:docMk/>
            <pc:sldMk cId="110221906" sldId="279"/>
            <ac:spMk id="9" creationId="{F2D642AB-E684-4603-A6BD-4087E8D9F867}"/>
          </ac:spMkLst>
        </pc:spChg>
      </pc:sldChg>
    </pc:docChg>
  </pc:docChgLst>
  <pc:docChgLst>
    <pc:chgData name="Jacinto Velasco Rebolledo" userId="00c16d92-95bd-422a-9db4-b068f123e6b5" providerId="ADAL" clId="{E4C91ED7-1767-414D-99BB-228530B558FA}"/>
    <pc:docChg chg="undo custSel addSld modSld sldOrd addMainMaster delMainMaster modMainMaster">
      <pc:chgData name="Jacinto Velasco Rebolledo" userId="00c16d92-95bd-422a-9db4-b068f123e6b5" providerId="ADAL" clId="{E4C91ED7-1767-414D-99BB-228530B558FA}" dt="2024-10-12T18:45:19.342" v="20"/>
      <pc:docMkLst>
        <pc:docMk/>
      </pc:docMkLst>
      <pc:sldChg chg="mod ord modClrScheme chgLayout">
        <pc:chgData name="Jacinto Velasco Rebolledo" userId="00c16d92-95bd-422a-9db4-b068f123e6b5" providerId="ADAL" clId="{E4C91ED7-1767-414D-99BB-228530B558FA}" dt="2024-10-12T18:45:19.342" v="20"/>
        <pc:sldMkLst>
          <pc:docMk/>
          <pc:sldMk cId="479785776" sldId="280"/>
        </pc:sldMkLst>
      </pc:sldChg>
      <pc:sldChg chg="new">
        <pc:chgData name="Jacinto Velasco Rebolledo" userId="00c16d92-95bd-422a-9db4-b068f123e6b5" providerId="ADAL" clId="{E4C91ED7-1767-414D-99BB-228530B558FA}" dt="2024-10-12T18:45:17.580" v="18" actId="680"/>
        <pc:sldMkLst>
          <pc:docMk/>
          <pc:sldMk cId="3418853889" sldId="281"/>
        </pc:sldMkLst>
      </pc:sldChg>
      <pc:sldMasterChg chg="modSldLayout sldLayoutOrd">
        <pc:chgData name="Jacinto Velasco Rebolledo" userId="00c16d92-95bd-422a-9db4-b068f123e6b5" providerId="ADAL" clId="{E4C91ED7-1767-414D-99BB-228530B558FA}" dt="2024-10-12T18:44:56.816" v="17" actId="20578"/>
        <pc:sldMasterMkLst>
          <pc:docMk/>
          <pc:sldMasterMk cId="3668580849" sldId="2147483648"/>
        </pc:sldMasterMkLst>
        <pc:sldLayoutChg chg="ord">
          <pc:chgData name="Jacinto Velasco Rebolledo" userId="00c16d92-95bd-422a-9db4-b068f123e6b5" providerId="ADAL" clId="{E4C91ED7-1767-414D-99BB-228530B558FA}" dt="2024-10-12T18:44:56.816" v="17" actId="20578"/>
          <pc:sldLayoutMkLst>
            <pc:docMk/>
            <pc:sldMasterMk cId="3668580849" sldId="2147483648"/>
            <pc:sldLayoutMk cId="3744013589" sldId="2147483649"/>
          </pc:sldLayoutMkLst>
        </pc:sldLayoutChg>
        <pc:sldLayoutChg chg="modSp mod ord">
          <pc:chgData name="Jacinto Velasco Rebolledo" userId="00c16d92-95bd-422a-9db4-b068f123e6b5" providerId="ADAL" clId="{E4C91ED7-1767-414D-99BB-228530B558FA}" dt="2024-10-12T18:43:06.462" v="7" actId="20578"/>
          <pc:sldLayoutMkLst>
            <pc:docMk/>
            <pc:sldMasterMk cId="3668580849" sldId="2147483648"/>
            <pc:sldLayoutMk cId="3538840014" sldId="2147483652"/>
          </pc:sldLayoutMkLst>
        </pc:sldLayoutChg>
        <pc:sldLayoutChg chg="delSp modSp mod ord">
          <pc:chgData name="Jacinto Velasco Rebolledo" userId="00c16d92-95bd-422a-9db4-b068f123e6b5" providerId="ADAL" clId="{E4C91ED7-1767-414D-99BB-228530B558FA}" dt="2024-10-12T18:43:59.199" v="15" actId="478"/>
          <pc:sldLayoutMkLst>
            <pc:docMk/>
            <pc:sldMasterMk cId="3668580849" sldId="2147483648"/>
            <pc:sldLayoutMk cId="1876234934" sldId="2147483671"/>
          </pc:sldLayoutMkLst>
        </pc:sldLayoutChg>
      </pc:sldMasterChg>
      <pc:sldMasterChg chg="new del mod addSldLayout delSldLayout">
        <pc:chgData name="Jacinto Velasco Rebolledo" userId="00c16d92-95bd-422a-9db4-b068f123e6b5" providerId="ADAL" clId="{E4C91ED7-1767-414D-99BB-228530B558FA}" dt="2024-10-12T18:42:47.529" v="4" actId="6938"/>
        <pc:sldMasterMkLst>
          <pc:docMk/>
          <pc:sldMasterMk cId="14194649" sldId="2147483650"/>
        </pc:sldMasterMkLst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002821661" sldId="2147483651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98808468" sldId="2147483652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297023848" sldId="2147483653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423452817" sldId="2147483654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62523771" sldId="2147483655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1732825384" sldId="2147483656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419123074" sldId="2147483657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407924216" sldId="2147483658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62922064" sldId="2147483659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23251519" sldId="2147483660"/>
          </pc:sldLayoutMkLst>
        </pc:sldLayoutChg>
        <pc:sldLayoutChg chg="new del replId">
          <pc:chgData name="Jacinto Velasco Rebolledo" userId="00c16d92-95bd-422a-9db4-b068f123e6b5" providerId="ADAL" clId="{E4C91ED7-1767-414D-99BB-228530B558FA}" dt="2024-10-12T18:42:47.529" v="4" actId="6938"/>
          <pc:sldLayoutMkLst>
            <pc:docMk/>
            <pc:sldMasterMk cId="14194649" sldId="2147483650"/>
            <pc:sldLayoutMk cId="3395872813" sldId="2147483661"/>
          </pc:sldLayoutMkLst>
        </pc:sldLayoutChg>
      </pc:sldMasterChg>
      <pc:sldMasterChg chg="del modSldLayout sldLayoutOrd">
        <pc:chgData name="Jacinto Velasco Rebolledo" userId="00c16d92-95bd-422a-9db4-b068f123e6b5" providerId="ADAL" clId="{E4C91ED7-1767-414D-99BB-228530B558FA}" dt="2024-10-12T18:44:25.694" v="16" actId="2696"/>
        <pc:sldMasterMkLst>
          <pc:docMk/>
          <pc:sldMasterMk cId="1090411801" sldId="2147483650"/>
        </pc:sldMasterMkLst>
        <pc:sldLayoutChg chg="ord">
          <pc:chgData name="Jacinto Velasco Rebolledo" userId="00c16d92-95bd-422a-9db4-b068f123e6b5" providerId="ADAL" clId="{E4C91ED7-1767-414D-99BB-228530B558FA}" dt="2024-10-12T18:43:01.905" v="5" actId="20578"/>
          <pc:sldLayoutMkLst>
            <pc:docMk/>
            <pc:sldMasterMk cId="3668580849" sldId="2147483648"/>
            <pc:sldLayoutMk cId="3538840014" sldId="2147483652"/>
          </pc:sldLayoutMkLst>
        </pc:sldLayoutChg>
        <pc:sldLayoutChg chg="ord">
          <pc:chgData name="Jacinto Velasco Rebolledo" userId="00c16d92-95bd-422a-9db4-b068f123e6b5" providerId="ADAL" clId="{E4C91ED7-1767-414D-99BB-228530B558FA}" dt="2024-10-12T18:43:46.671" v="11" actId="20578"/>
          <pc:sldLayoutMkLst>
            <pc:docMk/>
            <pc:sldMasterMk cId="3668580849" sldId="2147483648"/>
            <pc:sldLayoutMk cId="1876234934" sldId="2147483671"/>
          </pc:sldLayoutMkLst>
        </pc:sldLayoutChg>
      </pc:sldMasterChg>
      <pc:sldMasterChg chg="del">
        <pc:chgData name="Jacinto Velasco Rebolledo" userId="00c16d92-95bd-422a-9db4-b068f123e6b5" providerId="ADAL" clId="{E4C91ED7-1767-414D-99BB-228530B558FA}" dt="2024-10-12T18:42:37.238" v="2" actId="2696"/>
        <pc:sldMasterMkLst>
          <pc:docMk/>
          <pc:sldMasterMk cId="2683707030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6F5C5E53-F147-8644-A0CF-46FCFCB7C5D6}" type="datetimeFigureOut">
              <a:rPr lang="es-ES_tradnl" smtClean="0"/>
              <a:t>30/10/2026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447058AE-FEB0-D242-BCAE-44464DE802C9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43059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Buenos días. Soy Pablo Jiménez Girardeau y presento el caso BreastDCEDL: predecir la respuesta completa a la quimioterapia con una red convolucional propia y la resonancia de antes del tratamiento.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1</a:t>
            </a:fld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344922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pregunta es si podemos anticipar, antes del tratamiento, si una paciente alcanzará la respuesta patológica completa, la pCR: que tras la quimioterapia previa a la cirugía no quede tumor invasivo. Se asocia a un mejor pronóstico, y saberlo antes permitiría plantear desescalar el tratamiento.</a:t>
            </a:r>
          </a:p>
          <a:p>
            <a:endParaRPr lang="es-ES"/>
          </a:p>
          <a:p>
            <a:r>
              <a:rPr lang="es-ES"/>
              <a:t>Cada muestra es un corte de resonancia en tres momentos: PRE, antes del contraste; EARLY, cuando llega; y LATE, unos minutos después. Antes de programar miré las fases y el realce, EARLY menos PRE, que marca el tumor. Esta paciente alcanzó la pCR.</a:t>
            </a:r>
          </a:p>
          <a:p>
            <a:endParaRPr lang="es-ES"/>
          </a:p>
          <a:p>
            <a:r>
              <a:rPr lang="es-ES"/>
              <a:t>La alcanza un 29 % de las pacientes. El objetivo: una CNN propia, entrenada desde cero y solo con la imagen, que dé una probabilidad de pCR.</a:t>
            </a:r>
          </a:p>
          <a:p>
            <a:endParaRPr lang="es-ES"/>
          </a:p>
          <a:p>
            <a:r>
              <a:rPr lang="es-ES"/>
              <a:t>Si pregunta qué aporta predecir pCR = 1: con un modelo muy preciso se podría reducir tratamiento; con el nuestro no, por la precisión (diapositiva 4).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80561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Son 1.273 pacientes de tres cohortes: Duke, I-SPY1 e I-SPY2, que incluye ACRIN 6698. Usé la partición oficial: 1.097 pacientes para entrenar, en 5 folds de validación cruzada, y 176 para el test, evaluado una sola vez.</a:t>
            </a:r>
          </a:p>
          <a:p>
            <a:endParaRPr lang="es-ES"/>
          </a:p>
          <a:p>
            <a:r>
              <a:rPr lang="es-ES"/>
              <a:t>Se separa por paciente: todos sus cortes van al mismo grupo, y el código lo comprueba: cero pacientes en común. La unidad de evaluación es la paciente: su probabilidad es la media de sus unos diez cortes; mediana, máximo y voto dieron lo mismo, y la media es la más estable.</a:t>
            </a:r>
          </a:p>
          <a:p>
            <a:endParaRPr lang="es-ES"/>
          </a:p>
          <a:p>
            <a:r>
              <a:rPr lang="es-ES"/>
              <a:t>Cada fase se lee en gris y se divide entre 255; las tres fases son tres canales de tiempo, no colores.</a:t>
            </a:r>
          </a:p>
          <a:p>
            <a:endParaRPr lang="es-ES"/>
          </a:p>
          <a:p>
            <a:r>
              <a:rPr lang="es-ES"/>
              <a:t>Las clases están desequilibradas: un 29 % de pCR, del 21 % en Duke al 32 % en I-SPY2. Decir siempre «no pCR» acierta el 71 %, así que mido con AUC y F1 equilibrada.</a:t>
            </a:r>
          </a:p>
          <a:p>
            <a:endParaRPr lang="es-ES"/>
          </a:p>
          <a:p>
            <a:r>
              <a:rPr lang="es-ES"/>
              <a:t>Si pregunta: z012 es la altura del corte, no un instante de tiempo.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8554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La red es propia y pequeña: 106.001 parámetros, sin pesos preentrenados. Entra el corte con sus tres fases, 3 × 256 × 256, y dentro de la red se recorta el centro, 128 × 128; así la app lo hace exactamente igual.</a:t>
            </a:r>
          </a:p>
          <a:p>
            <a:endParaRPr lang="es-ES"/>
          </a:p>
          <a:p>
            <a:r>
              <a:rPr lang="es-ES"/>
              <a:t>Cuatro bloques de convolución 3 × 3, BatchNorm, ReLU y max pooling, con 16, 32, 64 y 128 filtros: el mapa pasa de 64 a 8 píxeles de lado. Después, media global, una densa de 64 con dropout y una neurona con sigmoide.</a:t>
            </a:r>
          </a:p>
          <a:p>
            <a:endParaRPr lang="es-ES"/>
          </a:p>
          <a:p>
            <a:r>
              <a:rPr lang="es-ES"/>
              <a:t>Partí de la arquitectura de referencia y cada cambio lo medí con la validación. El tamaño: con la mitad de filtros aprendía peor y con dos convoluciones por bloque memorizaba. BatchNorm, porque sin ella apenas aprendía. Y el recorte central: el tumor está en el centro; mejoró los cinco folds y eliminó los modelos sobreentrenados.</a:t>
            </a:r>
          </a:p>
          <a:p>
            <a:endParaRPr lang="es-ES"/>
          </a:p>
          <a:p>
            <a:r>
              <a:rPr lang="es-ES"/>
              <a:t>Dato por si pregunta: tres cuartas partes de los parámetros están en el último bloque (73.984).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7178263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Entrené con Adam, tasa 3·10⁻⁵ y lotes de 128, en 5 folds con 3 semillas. La parada temprana vigila el AUC de validación: se queda con el máximo de la media móvil de 3 épocas y para tras 10 sin mejorar. En este fold, entrenamiento y validación suben juntos; desde la época 21 el entrenamiento sigue y la validación no, así que se queda con la 21. En los 15 modelos, la diferencia en la época elegida es de 0,004 de media.</a:t>
            </a:r>
          </a:p>
          <a:p>
            <a:endParaRPr lang="es-ES"/>
          </a:p>
          <a:p>
            <a:r>
              <a:rPr lang="es-ES"/>
              <a:t>Resultado interno: 0,586 ± 0,020 por fold y 0,573 con todas las pacientes juntas.</a:t>
            </a:r>
          </a:p>
          <a:p>
            <a:endParaRPr lang="es-ES"/>
          </a:p>
          <a:p>
            <a:r>
              <a:rPr lang="es-ES"/>
              <a:t>La pérdida ponderada no ordena mejor: solo sube la sensibilidad con el umbral 0,5, y el umbral lo elijo aparte. El error grave sería un falso positivo, pero el modelo no tiene precisión para desescalar, así que uso el umbral de máxima F1 equilibrada: 0,316.</a:t>
            </a:r>
          </a:p>
          <a:p>
            <a:endParaRPr lang="es-ES"/>
          </a:p>
          <a:p>
            <a:r>
              <a:rPr lang="es-ES"/>
              <a:t>Si pregunta: con el umbral de desescalar (especificidad 95 %), en el test no se detectó ninguna de las 53 pCR.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54900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El test, 176 pacientes evaluadas una sola vez: AUC 0,591, algo por encima de la validación, así que elegir con la validación no infló la cifra. Con el umbral, la F1 media es 0,53, frente a 0,41 de decir siempre «no pCR». Los datos clínicos predicen más, 0,695, y añadir la imagen apenas suma; Fridman y colaboradores, los autores del conjunto, obtienen 0,72 en este mismo test.</a:t>
            </a:r>
          </a:p>
          <a:p>
            <a:endParaRPr lang="es-ES"/>
          </a:p>
          <a:p>
            <a:r>
              <a:rPr lang="es-ES"/>
              <a:t>A la derecha, un fallo real: esta paciente tuvo pCR y el modelo se queda a 0,003 del umbral; la app avisa de que la decisión es ajustada. La app lee y normaliza igual que Python: diferencia máxima 5·10⁻⁸.</a:t>
            </a:r>
          </a:p>
          <a:p>
            <a:endParaRPr lang="es-ES"/>
          </a:p>
          <a:p>
            <a:r>
              <a:rPr lang="es-ES"/>
              <a:t>Limitaciones: señal débil, un solo corte 2D y sensibilidad al brillo y al escáner, sobre todo en I-SPY1. Ahora, si quiere, cargamos las cinco muestras.</a:t>
            </a:r>
          </a:p>
          <a:p>
            <a:endParaRPr lang="es-ES"/>
          </a:p>
          <a:p>
            <a:r>
              <a:rPr lang="es-ES"/>
              <a:t>Si pregunta por el caso fallado: las 3 redes que no la vieron al entrenar (fold 3) le dan 0,352 y aciertan. El enlace de la diapositiva lleva a la app.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9338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058AE-FEB0-D242-BCAE-44464DE802C9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99314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uax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hlinkClick r:id="rId2"/>
            <a:extLst>
              <a:ext uri="{FF2B5EF4-FFF2-40B4-BE49-F238E27FC236}">
                <a16:creationId xmlns:a16="http://schemas.microsoft.com/office/drawing/2014/main" id="{5BF8870F-7094-C29D-E8ED-ECA89B0365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346" y="260963"/>
            <a:ext cx="1874520" cy="411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7623493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object 25">
            <a:extLst>
              <a:ext uri="{FF2B5EF4-FFF2-40B4-BE49-F238E27FC236}">
                <a16:creationId xmlns:a16="http://schemas.microsoft.com/office/drawing/2014/main" id="{B5B8F871-0E84-42DA-BFCD-CDAC5D2E41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/>
          <a:srcRect b="9915"/>
          <a:stretch/>
        </p:blipFill>
        <p:spPr>
          <a:xfrm>
            <a:off x="9666514" y="5977316"/>
            <a:ext cx="2525486" cy="8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013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8580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ablojimenezgirardeau.github.io/Caso-Cancer-de-mama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a libre 11">
            <a:extLst>
              <a:ext uri="{FF2B5EF4-FFF2-40B4-BE49-F238E27FC236}">
                <a16:creationId xmlns:a16="http://schemas.microsoft.com/office/drawing/2014/main" id="{D2B11345-E8EA-ACC7-79CF-9FA1F48C198A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custGeom>
            <a:avLst/>
            <a:gdLst>
              <a:gd name="connsiteX0" fmla="*/ 1130164 w 5988108"/>
              <a:gd name="connsiteY0" fmla="*/ 0 h 6858123"/>
              <a:gd name="connsiteX1" fmla="*/ 4627399 w 5988108"/>
              <a:gd name="connsiteY1" fmla="*/ 0 h 6858123"/>
              <a:gd name="connsiteX2" fmla="*/ 4627399 w 5988108"/>
              <a:gd name="connsiteY2" fmla="*/ 121 h 6858123"/>
              <a:gd name="connsiteX3" fmla="*/ 5988108 w 5988108"/>
              <a:gd name="connsiteY3" fmla="*/ 121 h 6858123"/>
              <a:gd name="connsiteX4" fmla="*/ 3645379 w 5988108"/>
              <a:gd name="connsiteY4" fmla="*/ 6858120 h 6858123"/>
              <a:gd name="connsiteX5" fmla="*/ 3497235 w 5988108"/>
              <a:gd name="connsiteY5" fmla="*/ 6858120 h 6858123"/>
              <a:gd name="connsiteX6" fmla="*/ 3497235 w 5988108"/>
              <a:gd name="connsiteY6" fmla="*/ 6858123 h 6858123"/>
              <a:gd name="connsiteX7" fmla="*/ 0 w 5988108"/>
              <a:gd name="connsiteY7" fmla="*/ 6858123 h 6858123"/>
              <a:gd name="connsiteX8" fmla="*/ 0 w 5988108"/>
              <a:gd name="connsiteY8" fmla="*/ 123 h 6858123"/>
              <a:gd name="connsiteX9" fmla="*/ 1130164 w 5988108"/>
              <a:gd name="connsiteY9" fmla="*/ 123 h 6858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988108" h="6858123">
                <a:moveTo>
                  <a:pt x="1130164" y="0"/>
                </a:moveTo>
                <a:lnTo>
                  <a:pt x="4627399" y="0"/>
                </a:lnTo>
                <a:lnTo>
                  <a:pt x="4627399" y="121"/>
                </a:lnTo>
                <a:lnTo>
                  <a:pt x="5988108" y="121"/>
                </a:lnTo>
                <a:lnTo>
                  <a:pt x="3645379" y="6858120"/>
                </a:lnTo>
                <a:lnTo>
                  <a:pt x="3497235" y="6858120"/>
                </a:lnTo>
                <a:lnTo>
                  <a:pt x="3497235" y="6858123"/>
                </a:lnTo>
                <a:lnTo>
                  <a:pt x="0" y="6858123"/>
                </a:lnTo>
                <a:lnTo>
                  <a:pt x="0" y="123"/>
                </a:lnTo>
                <a:lnTo>
                  <a:pt x="1130164" y="123"/>
                </a:lnTo>
                <a:close/>
              </a:path>
            </a:pathLst>
          </a:custGeom>
          <a:solidFill>
            <a:srgbClr val="0760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538902"/>
            <a:ext cx="3497234" cy="131909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DF4267-6090-847A-2F6D-04E12D2A0EBC}"/>
              </a:ext>
            </a:extLst>
          </p:cNvPr>
          <p:cNvSpPr txBox="1"/>
          <p:nvPr/>
        </p:nvSpPr>
        <p:spPr>
          <a:xfrm>
            <a:off x="1110694" y="1397673"/>
            <a:ext cx="3386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400" b="1" dirty="0">
                <a:solidFill>
                  <a:schemeClr val="bg1"/>
                </a:solidFill>
                <a:latin typeface="Muli" panose="02000503000000000000" pitchFamily="2" charset="77"/>
              </a:rPr>
              <a:t> </a:t>
            </a:r>
            <a:endParaRPr lang="es-ES_tradnl" sz="700" b="1" dirty="0">
              <a:solidFill>
                <a:schemeClr val="bg1"/>
              </a:solidFill>
              <a:latin typeface="Muli" panose="02000503000000000000" pitchFamily="2" charset="77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A243A7-AFC0-B88E-E363-1E709C1BB91E}"/>
              </a:ext>
            </a:extLst>
          </p:cNvPr>
          <p:cNvSpPr txBox="1"/>
          <p:nvPr/>
        </p:nvSpPr>
        <p:spPr>
          <a:xfrm>
            <a:off x="769545" y="2362199"/>
            <a:ext cx="8186589" cy="2159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r">
              <a:lnSpc>
                <a:spcPct val="95000"/>
              </a:lnSpc>
              <a:spcAft>
                <a:spcPts val="800"/>
              </a:spcAft>
            </a:pPr>
            <a:r>
              <a:rPr lang="es-ES" sz="3200">
                <a:solidFill>
                  <a:srgbClr val="FFFFFF"/>
                </a:solidFill>
                <a:latin typeface="Segoe UI Semibold" panose="020B0702040204020203" pitchFamily="34" charset="0"/>
              </a:rPr>
              <a:t>Predicción de la pCR</a:t>
            </a:r>
          </a:p>
          <a:p>
            <a:pPr algn="r">
              <a:lnSpc>
                <a:spcPct val="95000"/>
              </a:lnSpc>
              <a:spcAft>
                <a:spcPts val="800"/>
              </a:spcAft>
            </a:pPr>
            <a:r>
              <a:rPr lang="es-ES" sz="3200">
                <a:solidFill>
                  <a:srgbClr val="FFFFFF"/>
                </a:solidFill>
                <a:latin typeface="Segoe UI Semibold" panose="020B0702040204020203" pitchFamily="34" charset="0"/>
              </a:rPr>
              <a:t>en resonancia DCE de mama</a:t>
            </a:r>
            <a:endParaRPr lang="es-ES" sz="20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r">
              <a:lnSpc>
                <a:spcPct val="95000"/>
              </a:lnSpc>
              <a:spcAft>
                <a:spcPts val="800"/>
              </a:spcAft>
            </a:pPr>
            <a:r>
              <a:rPr lang="es-ES" sz="2000">
                <a:solidFill>
                  <a:srgbClr val="FFFFFF"/>
                </a:solidFill>
                <a:latin typeface="Segoe UI" panose="020B0502040204020203" pitchFamily="34" charset="0"/>
              </a:rPr>
              <a:t>Pablo Jiménez Girardeau</a:t>
            </a:r>
            <a:endParaRPr lang="es-ES" sz="14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r">
              <a:lnSpc>
                <a:spcPct val="95000"/>
              </a:lnSpc>
              <a:spcAft>
                <a:spcPts val="800"/>
              </a:spcAft>
            </a:pPr>
            <a:r>
              <a:rPr lang="es-ES" sz="1400">
                <a:solidFill>
                  <a:srgbClr val="FFFFFF"/>
                </a:solidFill>
                <a:latin typeface="Segoe UI" panose="020B0502040204020203" pitchFamily="34" charset="0"/>
              </a:rPr>
              <a:t>Aprendizaje automático</a:t>
            </a:r>
            <a:endParaRPr lang="es-ES_tradnl" sz="14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37DFFB6-4822-41D8-9F92-84BE3C8C7A4F}"/>
              </a:ext>
            </a:extLst>
          </p:cNvPr>
          <p:cNvSpPr txBox="1"/>
          <p:nvPr/>
        </p:nvSpPr>
        <p:spPr>
          <a:xfrm>
            <a:off x="5146134" y="4292600"/>
            <a:ext cx="38100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es-ES_tradnl" sz="1300">
                <a:solidFill>
                  <a:srgbClr val="FFFFFF"/>
                </a:solidFill>
                <a:latin typeface="Segoe UI" panose="020B0502040204020203" pitchFamily="34" charset="0"/>
              </a:rPr>
              <a:t>Curso 2026-2027</a:t>
            </a:r>
            <a:endParaRPr lang="es-ES_tradnl" sz="1300" dirty="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063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F1A5876F-3A27-2DC1-5F39-6BB1A1203306}"/>
              </a:ext>
            </a:extLst>
          </p:cNvPr>
          <p:cNvSpPr/>
          <p:nvPr/>
        </p:nvSpPr>
        <p:spPr>
          <a:xfrm>
            <a:off x="609600" y="393700"/>
            <a:ext cx="279400" cy="2794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100">
                <a:solidFill>
                  <a:srgbClr val="FFFFFF"/>
                </a:solidFill>
                <a:latin typeface="Segoe UI Semibold" panose="020B0702040204020203" pitchFamily="34" charset="0"/>
              </a:rPr>
              <a:t>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201CB8-1A39-AFD8-DB53-9078D3F07F83}"/>
              </a:ext>
            </a:extLst>
          </p:cNvPr>
          <p:cNvSpPr txBox="1"/>
          <p:nvPr/>
        </p:nvSpPr>
        <p:spPr>
          <a:xfrm>
            <a:off x="990600" y="3937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6B7380"/>
                </a:solidFill>
                <a:latin typeface="Segoe UI" panose="020B0502040204020203" pitchFamily="34" charset="0"/>
              </a:rPr>
              <a:t>Problema clínico y objetivo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EA5E5BA-4819-FEA3-76F6-9D176B34D875}"/>
              </a:ext>
            </a:extLst>
          </p:cNvPr>
          <p:cNvSpPr txBox="1"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>
                <a:solidFill>
                  <a:srgbClr val="16191F"/>
                </a:solidFill>
                <a:latin typeface="Segoe UI Semibold" panose="020B0702040204020203" pitchFamily="34" charset="0"/>
              </a:rPr>
              <a:t>¿Se puede anticipar la pCR antes del tratamiento?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6B944A9-CA46-6C56-63D6-DD8E85AAD58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9400"/>
            <a:ext cx="149860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17F5AAF-E4E1-EC4D-33FC-96D64440FC8D}"/>
              </a:ext>
            </a:extLst>
          </p:cNvPr>
          <p:cNvSpPr txBox="1"/>
          <p:nvPr/>
        </p:nvSpPr>
        <p:spPr>
          <a:xfrm>
            <a:off x="609600" y="3149600"/>
            <a:ext cx="149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16191F"/>
                </a:solidFill>
                <a:latin typeface="Segoe UI Semibold" panose="020B0702040204020203" pitchFamily="34" charset="0"/>
              </a:rPr>
              <a:t>PRE</a:t>
            </a:r>
            <a:endParaRPr lang="es-ES" sz="110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antes del contraste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C6229D5-9FE9-4064-59FF-FE9A1F42885D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0" y="1549400"/>
            <a:ext cx="149860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7C8B23B1-755D-28BD-65C0-0BAC48A0E003}"/>
              </a:ext>
            </a:extLst>
          </p:cNvPr>
          <p:cNvSpPr txBox="1"/>
          <p:nvPr/>
        </p:nvSpPr>
        <p:spPr>
          <a:xfrm>
            <a:off x="2235200" y="3149600"/>
            <a:ext cx="149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16191F"/>
                </a:solidFill>
                <a:latin typeface="Segoe UI Semibold" panose="020B0702040204020203" pitchFamily="34" charset="0"/>
              </a:rPr>
              <a:t>EARLY</a:t>
            </a:r>
            <a:endParaRPr lang="es-ES" sz="110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contraste temprano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6F779AAC-0864-2A62-84DA-1CB8135778D1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00" y="1549400"/>
            <a:ext cx="149860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DDA16EFA-5436-7B26-B841-A1BE60FCCCBE}"/>
              </a:ext>
            </a:extLst>
          </p:cNvPr>
          <p:cNvSpPr txBox="1"/>
          <p:nvPr/>
        </p:nvSpPr>
        <p:spPr>
          <a:xfrm>
            <a:off x="3860800" y="3149600"/>
            <a:ext cx="149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16191F"/>
                </a:solidFill>
                <a:latin typeface="Segoe UI Semibold" panose="020B0702040204020203" pitchFamily="34" charset="0"/>
              </a:rPr>
              <a:t>LATE</a:t>
            </a:r>
            <a:endParaRPr lang="es-ES" sz="110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contraste tardío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FC762B-217B-F184-0231-F4D641A94806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5638800" y="1549400"/>
            <a:ext cx="149860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F31F2029-71A8-11F0-626E-9598B59E35B0}"/>
              </a:ext>
            </a:extLst>
          </p:cNvPr>
          <p:cNvSpPr txBox="1"/>
          <p:nvPr/>
        </p:nvSpPr>
        <p:spPr>
          <a:xfrm>
            <a:off x="5638800" y="3149600"/>
            <a:ext cx="1498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50">
                <a:solidFill>
                  <a:srgbClr val="16191F"/>
                </a:solidFill>
                <a:latin typeface="Segoe UI Semibold" panose="020B0702040204020203" pitchFamily="34" charset="0"/>
              </a:rPr>
              <a:t>Realce</a:t>
            </a:r>
            <a:endParaRPr lang="es-ES" sz="110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EARLY − PRE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4510756-DD93-4555-5589-E6C9F1E37CAE}"/>
              </a:ext>
            </a:extLst>
          </p:cNvPr>
          <p:cNvCxnSpPr/>
          <p:nvPr/>
        </p:nvCxnSpPr>
        <p:spPr>
          <a:xfrm>
            <a:off x="609600" y="3733800"/>
            <a:ext cx="47498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981815E-BB73-637A-B7B9-D342CAF666B1}"/>
              </a:ext>
            </a:extLst>
          </p:cNvPr>
          <p:cNvSpPr txBox="1"/>
          <p:nvPr/>
        </p:nvSpPr>
        <p:spPr>
          <a:xfrm>
            <a:off x="609600" y="3810000"/>
            <a:ext cx="4749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tiempo desde la inyección del contraste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0D43A47-E119-4EF2-22B9-CBB86E8EE6BB}"/>
              </a:ext>
            </a:extLst>
          </p:cNvPr>
          <p:cNvSpPr txBox="1"/>
          <p:nvPr/>
        </p:nvSpPr>
        <p:spPr>
          <a:xfrm>
            <a:off x="609600" y="4267200"/>
            <a:ext cx="6527800" cy="762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1200">
                <a:solidFill>
                  <a:srgbClr val="3B4350"/>
                </a:solidFill>
                <a:latin typeface="Segoe UI" panose="020B0502040204020203" pitchFamily="34" charset="0"/>
              </a:rPr>
              <a:t>El mismo corte de la paciente ISPY1_1155. Antes de programar miramos las fases y el realce: el tumor capta el contraste y se ilumina. Esta paciente alcanzó la pCR.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0AFF2F1-C943-1629-F070-084588115408}"/>
              </a:ext>
            </a:extLst>
          </p:cNvPr>
          <p:cNvSpPr txBox="1"/>
          <p:nvPr/>
        </p:nvSpPr>
        <p:spPr>
          <a:xfrm>
            <a:off x="7493000" y="1473200"/>
            <a:ext cx="25400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4400">
                <a:solidFill>
                  <a:srgbClr val="0760AB"/>
                </a:solidFill>
                <a:latin typeface="Segoe UI Semibold" panose="020B0702040204020203" pitchFamily="34" charset="0"/>
              </a:rPr>
              <a:t>pCR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8223F83-6DA5-9B2B-D612-1F1B961C6452}"/>
              </a:ext>
            </a:extLst>
          </p:cNvPr>
          <p:cNvSpPr txBox="1"/>
          <p:nvPr/>
        </p:nvSpPr>
        <p:spPr>
          <a:xfrm>
            <a:off x="7493000" y="2184400"/>
            <a:ext cx="40894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500">
                <a:solidFill>
                  <a:srgbClr val="16191F"/>
                </a:solidFill>
                <a:latin typeface="Segoe UI Semibold" panose="020B0702040204020203" pitchFamily="34" charset="0"/>
              </a:rPr>
              <a:t>Respuesta patológica completa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D3732B7-D3DA-1003-70D6-9AE945DDACD0}"/>
              </a:ext>
            </a:extLst>
          </p:cNvPr>
          <p:cNvSpPr txBox="1"/>
          <p:nvPr/>
        </p:nvSpPr>
        <p:spPr>
          <a:xfrm>
            <a:off x="7493000" y="2514600"/>
            <a:ext cx="4089400" cy="736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1250">
                <a:solidFill>
                  <a:srgbClr val="3B4350"/>
                </a:solidFill>
                <a:latin typeface="Segoe UI" panose="020B0502040204020203" pitchFamily="34" charset="0"/>
              </a:rPr>
              <a:t>Tras la quimioterapia previa a la cirugía no queda tumor invasivo. Saberlo antes permitiría plantear desescalar el tratamiento.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178E0ED-A8C2-58E4-DE5F-D6351BFBC8A0}"/>
              </a:ext>
            </a:extLst>
          </p:cNvPr>
          <p:cNvSpPr txBox="1"/>
          <p:nvPr/>
        </p:nvSpPr>
        <p:spPr>
          <a:xfrm>
            <a:off x="7493000" y="3327400"/>
            <a:ext cx="1498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4000">
                <a:solidFill>
                  <a:srgbClr val="0760AB"/>
                </a:solidFill>
                <a:latin typeface="Segoe UI Semibold" panose="020B0702040204020203" pitchFamily="34" charset="0"/>
              </a:rPr>
              <a:t>29 %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4485038-84D0-A4DC-6054-AE63DAA7972A}"/>
              </a:ext>
            </a:extLst>
          </p:cNvPr>
          <p:cNvSpPr txBox="1"/>
          <p:nvPr/>
        </p:nvSpPr>
        <p:spPr>
          <a:xfrm>
            <a:off x="8940800" y="3327400"/>
            <a:ext cx="2641600" cy="685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s-ES" sz="1250">
                <a:solidFill>
                  <a:srgbClr val="3B4350"/>
                </a:solidFill>
                <a:latin typeface="Segoe UI" panose="020B0502040204020203" pitchFamily="34" charset="0"/>
              </a:rPr>
              <a:t>de las 1.273 pacientes</a:t>
            </a:r>
          </a:p>
          <a:p>
            <a:pPr>
              <a:lnSpc>
                <a:spcPct val="95000"/>
              </a:lnSpc>
            </a:pPr>
            <a:r>
              <a:rPr lang="es-ES" sz="1250">
                <a:solidFill>
                  <a:srgbClr val="3B4350"/>
                </a:solidFill>
                <a:latin typeface="Segoe UI" panose="020B0502040204020203" pitchFamily="34" charset="0"/>
              </a:rPr>
              <a:t>alcanzan la pCR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C4A9FE1F-54EE-A459-B4B9-A8FF9A50EFA8}"/>
              </a:ext>
            </a:extLst>
          </p:cNvPr>
          <p:cNvSpPr/>
          <p:nvPr/>
        </p:nvSpPr>
        <p:spPr>
          <a:xfrm>
            <a:off x="7493000" y="4267200"/>
            <a:ext cx="4089400" cy="1422400"/>
          </a:xfrm>
          <a:prstGeom prst="roundRect">
            <a:avLst>
              <a:gd name="adj" fmla="val 8929"/>
            </a:avLst>
          </a:prstGeom>
          <a:solidFill>
            <a:srgbClr val="E9F1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105CA1D-2C20-AA1B-FC52-5400195F62EF}"/>
              </a:ext>
            </a:extLst>
          </p:cNvPr>
          <p:cNvSpPr txBox="1"/>
          <p:nvPr/>
        </p:nvSpPr>
        <p:spPr>
          <a:xfrm>
            <a:off x="7696200" y="4267200"/>
            <a:ext cx="3683000" cy="1422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400"/>
              </a:spcAft>
            </a:pPr>
            <a:r>
              <a:rPr lang="es-ES" sz="1300">
                <a:solidFill>
                  <a:srgbClr val="0760AB"/>
                </a:solidFill>
                <a:latin typeface="Segoe UI Semibold" panose="020B0702040204020203" pitchFamily="34" charset="0"/>
              </a:rPr>
              <a:t>Objetivo</a:t>
            </a:r>
            <a:endParaRPr lang="es-ES" sz="1250">
              <a:solidFill>
                <a:srgbClr val="16191F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400"/>
              </a:spcAft>
            </a:pPr>
            <a:r>
              <a:rPr lang="es-ES" sz="1250">
                <a:solidFill>
                  <a:srgbClr val="16191F"/>
                </a:solidFill>
                <a:latin typeface="Segoe UI" panose="020B0502040204020203" pitchFamily="34" charset="0"/>
              </a:rPr>
              <a:t>Una CNN propia, entrenada desde cero, que estime la probabilidad de pCR solo con la imagen de antes del tratamiento.</a:t>
            </a:r>
          </a:p>
        </p:txBody>
      </p:sp>
    </p:spTree>
    <p:extLst>
      <p:ext uri="{BB962C8B-B14F-4D97-AF65-F5344CB8AC3E}">
        <p14:creationId xmlns:p14="http://schemas.microsoft.com/office/powerpoint/2010/main" val="479785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3B00D6DE-AE24-E6CB-186F-4AA021289082}"/>
              </a:ext>
            </a:extLst>
          </p:cNvPr>
          <p:cNvSpPr/>
          <p:nvPr/>
        </p:nvSpPr>
        <p:spPr>
          <a:xfrm>
            <a:off x="609600" y="393700"/>
            <a:ext cx="279400" cy="2794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100">
                <a:solidFill>
                  <a:srgbClr val="FFFFFF"/>
                </a:solidFill>
                <a:latin typeface="Segoe UI Semibold" panose="020B0702040204020203" pitchFamily="34" charset="0"/>
              </a:rPr>
              <a:t>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3CE0B49-FF57-F294-2114-FFD6AA9A2967}"/>
              </a:ext>
            </a:extLst>
          </p:cNvPr>
          <p:cNvSpPr txBox="1"/>
          <p:nvPr/>
        </p:nvSpPr>
        <p:spPr>
          <a:xfrm>
            <a:off x="990600" y="3937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6B7380"/>
                </a:solidFill>
                <a:latin typeface="Segoe UI" panose="020B0502040204020203" pitchFamily="34" charset="0"/>
              </a:rPr>
              <a:t>Datos, preparación, separación por paciente y clases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ED3607F-0438-AB46-E5A5-88339A635DF1}"/>
              </a:ext>
            </a:extLst>
          </p:cNvPr>
          <p:cNvSpPr txBox="1"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>
                <a:solidFill>
                  <a:srgbClr val="16191F"/>
                </a:solidFill>
                <a:latin typeface="Segoe UI Semibold" panose="020B0702040204020203" pitchFamily="34" charset="0"/>
              </a:rPr>
              <a:t>1.273 pacientes de tres cohortes, separadas por paciente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345CD28C-5F4A-0109-A28E-F88ACEEF7A1E}"/>
              </a:ext>
            </a:extLst>
          </p:cNvPr>
          <p:cNvSpPr/>
          <p:nvPr/>
        </p:nvSpPr>
        <p:spPr>
          <a:xfrm>
            <a:off x="609600" y="2362200"/>
            <a:ext cx="1905000" cy="1397000"/>
          </a:xfrm>
          <a:prstGeom prst="roundRect">
            <a:avLst>
              <a:gd name="adj" fmla="val 7273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2D50E1F-62B6-C565-824C-C462302B5D01}"/>
              </a:ext>
            </a:extLst>
          </p:cNvPr>
          <p:cNvSpPr txBox="1"/>
          <p:nvPr/>
        </p:nvSpPr>
        <p:spPr>
          <a:xfrm>
            <a:off x="609600" y="2362200"/>
            <a:ext cx="1905000" cy="1397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es-ES" sz="2800">
                <a:solidFill>
                  <a:srgbClr val="FFFFFF"/>
                </a:solidFill>
                <a:latin typeface="Segoe UI Semibold" panose="020B0702040204020203" pitchFamily="34" charset="0"/>
              </a:rPr>
              <a:t>1.273</a:t>
            </a:r>
            <a:endParaRPr lang="es-ES" sz="1200">
              <a:solidFill>
                <a:srgbClr val="FFFFFF"/>
              </a:solidFill>
              <a:latin typeface="Segoe UI" panose="020B0502040204020203" pitchFamily="34" charset="0"/>
            </a:endParaRPr>
          </a:p>
          <a:p>
            <a:pPr algn="ctr">
              <a:spcAft>
                <a:spcPts val="200"/>
              </a:spcAft>
            </a:pPr>
            <a:r>
              <a:rPr lang="es-ES" sz="1200">
                <a:solidFill>
                  <a:srgbClr val="FFFFFF"/>
                </a:solidFill>
                <a:latin typeface="Segoe UI" panose="020B0502040204020203" pitchFamily="34" charset="0"/>
              </a:rPr>
              <a:t>pacientes</a:t>
            </a:r>
            <a:endParaRPr lang="es-ES" sz="1050">
              <a:solidFill>
                <a:srgbClr val="D6E6F5"/>
              </a:solidFill>
              <a:latin typeface="Segoe UI" panose="020B0502040204020203" pitchFamily="34" charset="0"/>
            </a:endParaRPr>
          </a:p>
          <a:p>
            <a:pPr algn="ctr">
              <a:spcAft>
                <a:spcPts val="200"/>
              </a:spcAft>
            </a:pPr>
            <a:r>
              <a:rPr lang="es-ES" sz="1050">
                <a:solidFill>
                  <a:srgbClr val="D6E6F5"/>
                </a:solidFill>
                <a:latin typeface="Segoe UI" panose="020B0502040204020203" pitchFamily="34" charset="0"/>
              </a:rPr>
              <a:t>12.703 cortes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CEB183-2E8A-FF1B-0FD9-947446362028}"/>
              </a:ext>
            </a:extLst>
          </p:cNvPr>
          <p:cNvCxnSpPr/>
          <p:nvPr/>
        </p:nvCxnSpPr>
        <p:spPr>
          <a:xfrm>
            <a:off x="2514600" y="3060700"/>
            <a:ext cx="3048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F660B6F-63B7-9419-3987-6E701465DBCC}"/>
              </a:ext>
            </a:extLst>
          </p:cNvPr>
          <p:cNvCxnSpPr/>
          <p:nvPr/>
        </p:nvCxnSpPr>
        <p:spPr>
          <a:xfrm>
            <a:off x="2819400" y="2032000"/>
            <a:ext cx="0" cy="2057400"/>
          </a:xfrm>
          <a:prstGeom prst="line">
            <a:avLst/>
          </a:prstGeom>
          <a:ln w="15875">
            <a:solidFill>
              <a:srgbClr val="6B738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03730D5-918C-80F1-280D-7A058074C7FC}"/>
              </a:ext>
            </a:extLst>
          </p:cNvPr>
          <p:cNvCxnSpPr/>
          <p:nvPr/>
        </p:nvCxnSpPr>
        <p:spPr>
          <a:xfrm>
            <a:off x="2819400" y="2032000"/>
            <a:ext cx="2794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25AAAB5-8CD9-620A-0B11-772627D10389}"/>
              </a:ext>
            </a:extLst>
          </p:cNvPr>
          <p:cNvCxnSpPr/>
          <p:nvPr/>
        </p:nvCxnSpPr>
        <p:spPr>
          <a:xfrm>
            <a:off x="2819400" y="4089400"/>
            <a:ext cx="2794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4F0A656-F0AD-4E98-BE2B-C3753B380B0F}"/>
              </a:ext>
            </a:extLst>
          </p:cNvPr>
          <p:cNvSpPr/>
          <p:nvPr/>
        </p:nvSpPr>
        <p:spPr>
          <a:xfrm>
            <a:off x="3124200" y="1498600"/>
            <a:ext cx="2844800" cy="1066800"/>
          </a:xfrm>
          <a:prstGeom prst="roundRect">
            <a:avLst>
              <a:gd name="adj" fmla="val 9524"/>
            </a:avLst>
          </a:prstGeom>
          <a:solidFill>
            <a:srgbClr val="E9F1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1269548-BE70-754A-9304-B98D049C4950}"/>
              </a:ext>
            </a:extLst>
          </p:cNvPr>
          <p:cNvSpPr txBox="1"/>
          <p:nvPr/>
        </p:nvSpPr>
        <p:spPr>
          <a:xfrm>
            <a:off x="3302000" y="1498600"/>
            <a:ext cx="2590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s-ES" sz="2000">
                <a:solidFill>
                  <a:srgbClr val="0760AB"/>
                </a:solidFill>
                <a:latin typeface="Segoe UI Semibold" panose="020B0702040204020203" pitchFamily="34" charset="0"/>
              </a:rPr>
              <a:t>1.097</a:t>
            </a:r>
            <a:r>
              <a:rPr lang="es-ES" sz="1400">
                <a:solidFill>
                  <a:srgbClr val="16191F"/>
                </a:solidFill>
                <a:latin typeface="Segoe UI Semibold" panose="020B0702040204020203" pitchFamily="34" charset="0"/>
              </a:rPr>
              <a:t>  entrenamiento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10.945 cortes</a:t>
            </a:r>
          </a:p>
          <a:p>
            <a:pPr>
              <a:spcAft>
                <a:spcPts val="1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validación cruzada en 5 folds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1C6DC2F8-3D63-37A3-D610-D39C0C4DFE3A}"/>
              </a:ext>
            </a:extLst>
          </p:cNvPr>
          <p:cNvSpPr/>
          <p:nvPr/>
        </p:nvSpPr>
        <p:spPr>
          <a:xfrm>
            <a:off x="3124200" y="2667000"/>
            <a:ext cx="5080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07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219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36470837-51C8-C1B6-B30D-4A32F3CB09B2}"/>
              </a:ext>
            </a:extLst>
          </p:cNvPr>
          <p:cNvSpPr/>
          <p:nvPr/>
        </p:nvSpPr>
        <p:spPr>
          <a:xfrm>
            <a:off x="3708400" y="2667000"/>
            <a:ext cx="5080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07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219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9B9587B-2B61-1618-EEEB-98139556A098}"/>
              </a:ext>
            </a:extLst>
          </p:cNvPr>
          <p:cNvSpPr/>
          <p:nvPr/>
        </p:nvSpPr>
        <p:spPr>
          <a:xfrm>
            <a:off x="4292600" y="2667000"/>
            <a:ext cx="5080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07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220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A16FECE-2AD3-075A-B699-69BAB08C1579}"/>
              </a:ext>
            </a:extLst>
          </p:cNvPr>
          <p:cNvSpPr/>
          <p:nvPr/>
        </p:nvSpPr>
        <p:spPr>
          <a:xfrm>
            <a:off x="4876800" y="2667000"/>
            <a:ext cx="5080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07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220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2A14ECF-F604-AA95-066C-4C8A0FD4F76E}"/>
              </a:ext>
            </a:extLst>
          </p:cNvPr>
          <p:cNvSpPr/>
          <p:nvPr/>
        </p:nvSpPr>
        <p:spPr>
          <a:xfrm>
            <a:off x="5461000" y="2667000"/>
            <a:ext cx="508000" cy="2794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9525">
            <a:solidFill>
              <a:srgbClr val="0760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219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BD4886D-0286-DC57-5AB3-65152BBD644E}"/>
              </a:ext>
            </a:extLst>
          </p:cNvPr>
          <p:cNvSpPr txBox="1"/>
          <p:nvPr/>
        </p:nvSpPr>
        <p:spPr>
          <a:xfrm>
            <a:off x="3124200" y="2997200"/>
            <a:ext cx="284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pacientes por fold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C86A0FE6-5320-4B84-A29A-27545C480360}"/>
              </a:ext>
            </a:extLst>
          </p:cNvPr>
          <p:cNvSpPr/>
          <p:nvPr/>
        </p:nvSpPr>
        <p:spPr>
          <a:xfrm>
            <a:off x="3124200" y="3556000"/>
            <a:ext cx="2844800" cy="1066800"/>
          </a:xfrm>
          <a:prstGeom prst="roundRect">
            <a:avLst>
              <a:gd name="adj" fmla="val 9524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4D8F384-282C-0D82-85BE-B21672CE4B9D}"/>
              </a:ext>
            </a:extLst>
          </p:cNvPr>
          <p:cNvSpPr txBox="1"/>
          <p:nvPr/>
        </p:nvSpPr>
        <p:spPr>
          <a:xfrm>
            <a:off x="3302000" y="3556000"/>
            <a:ext cx="25908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spcAft>
                <a:spcPts val="100"/>
              </a:spcAft>
            </a:pPr>
            <a:r>
              <a:rPr lang="es-ES" sz="2000">
                <a:solidFill>
                  <a:srgbClr val="16191F"/>
                </a:solidFill>
                <a:latin typeface="Segoe UI Semibold" panose="020B0702040204020203" pitchFamily="34" charset="0"/>
              </a:rPr>
              <a:t>176</a:t>
            </a:r>
            <a:r>
              <a:rPr lang="es-ES" sz="1400">
                <a:solidFill>
                  <a:srgbClr val="16191F"/>
                </a:solidFill>
                <a:latin typeface="Segoe UI Semibold" panose="020B0702040204020203" pitchFamily="34" charset="0"/>
              </a:rPr>
              <a:t>  test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spcAft>
                <a:spcPts val="1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1.758 cortes</a:t>
            </a:r>
          </a:p>
          <a:p>
            <a:pPr>
              <a:spcAft>
                <a:spcPts val="1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partición oficial, evaluado una sola vez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3BB34A82-D82A-5ADE-C597-6875E9925400}"/>
              </a:ext>
            </a:extLst>
          </p:cNvPr>
          <p:cNvSpPr/>
          <p:nvPr/>
        </p:nvSpPr>
        <p:spPr>
          <a:xfrm>
            <a:off x="609600" y="4851400"/>
            <a:ext cx="2616200" cy="965200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D24ACA9-1CBA-2F65-EECA-E3B0E7F1A4A5}"/>
              </a:ext>
            </a:extLst>
          </p:cNvPr>
          <p:cNvSpPr txBox="1"/>
          <p:nvPr/>
        </p:nvSpPr>
        <p:spPr>
          <a:xfrm>
            <a:off x="762000" y="4978400"/>
            <a:ext cx="2311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Preparación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PNG en gris ÷ 255. Tres canales = tres momentos del contraste, no colores RGB.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1E88E5E8-D261-56CC-5C5B-A906A9D99E3E}"/>
              </a:ext>
            </a:extLst>
          </p:cNvPr>
          <p:cNvSpPr/>
          <p:nvPr/>
        </p:nvSpPr>
        <p:spPr>
          <a:xfrm>
            <a:off x="3352800" y="4851400"/>
            <a:ext cx="2616200" cy="965200"/>
          </a:xfrm>
          <a:prstGeom prst="roundRect">
            <a:avLst>
              <a:gd name="adj" fmla="val 10526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1F0B295-61EC-7A94-FD3E-1F55B6F41B6F}"/>
              </a:ext>
            </a:extLst>
          </p:cNvPr>
          <p:cNvSpPr txBox="1"/>
          <p:nvPr/>
        </p:nvSpPr>
        <p:spPr>
          <a:xfrm>
            <a:off x="3505200" y="4978400"/>
            <a:ext cx="23114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Unidad: la paciente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Media de sus ~10 cortes; mediana, máximo y voto rinden igual. Ninguna paciente en dos grupos.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D9BD34A-5D79-4930-3654-CDA1E14AFE2B}"/>
              </a:ext>
            </a:extLst>
          </p:cNvPr>
          <p:cNvSpPr txBox="1"/>
          <p:nvPr/>
        </p:nvSpPr>
        <p:spPr>
          <a:xfrm>
            <a:off x="6604000" y="1498600"/>
            <a:ext cx="4978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300">
                <a:solidFill>
                  <a:srgbClr val="16191F"/>
                </a:solidFill>
                <a:latin typeface="Segoe UI Semibold" panose="020B0702040204020203" pitchFamily="34" charset="0"/>
              </a:rPr>
              <a:t>Pacientes por cohorte y proporción de pCR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DADDA7A4-FF4C-4EC1-F379-87A7C96C83EA}"/>
              </a:ext>
            </a:extLst>
          </p:cNvPr>
          <p:cNvSpPr/>
          <p:nvPr/>
        </p:nvSpPr>
        <p:spPr>
          <a:xfrm>
            <a:off x="6604000" y="18669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8F919BF-EE3B-7C58-C170-D389C1D95716}"/>
              </a:ext>
            </a:extLst>
          </p:cNvPr>
          <p:cNvSpPr txBox="1"/>
          <p:nvPr/>
        </p:nvSpPr>
        <p:spPr>
          <a:xfrm>
            <a:off x="6769100" y="18161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pCR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F10EC46-CF08-83B3-09F5-4B71997B0FA8}"/>
              </a:ext>
            </a:extLst>
          </p:cNvPr>
          <p:cNvSpPr/>
          <p:nvPr/>
        </p:nvSpPr>
        <p:spPr>
          <a:xfrm>
            <a:off x="7289800" y="1866900"/>
            <a:ext cx="114300" cy="114300"/>
          </a:xfrm>
          <a:prstGeom prst="roundRect">
            <a:avLst>
              <a:gd name="adj" fmla="val 22222"/>
            </a:avLst>
          </a:prstGeom>
          <a:solidFill>
            <a:srgbClr val="D5DB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233FCDEE-C3F8-2320-192E-150D077028DF}"/>
              </a:ext>
            </a:extLst>
          </p:cNvPr>
          <p:cNvSpPr txBox="1"/>
          <p:nvPr/>
        </p:nvSpPr>
        <p:spPr>
          <a:xfrm>
            <a:off x="7454900" y="1816100"/>
            <a:ext cx="762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no pCR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E741D050-4AFD-7C0C-7A97-3E8C262F2006}"/>
              </a:ext>
            </a:extLst>
          </p:cNvPr>
          <p:cNvSpPr txBox="1"/>
          <p:nvPr/>
        </p:nvSpPr>
        <p:spPr>
          <a:xfrm>
            <a:off x="6604000" y="2209800"/>
            <a:ext cx="497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Duke</a:t>
            </a: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   251 pacientes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95ADBE46-2118-0E29-A7D3-691DC57D03A0}"/>
              </a:ext>
            </a:extLst>
          </p:cNvPr>
          <p:cNvSpPr/>
          <p:nvPr/>
        </p:nvSpPr>
        <p:spPr>
          <a:xfrm>
            <a:off x="6604000" y="2489200"/>
            <a:ext cx="228686" cy="228600"/>
          </a:xfrm>
          <a:prstGeom prst="roundRect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9D577124-04B2-0BCB-C5B0-BE7D59D9D77A}"/>
              </a:ext>
            </a:extLst>
          </p:cNvPr>
          <p:cNvSpPr/>
          <p:nvPr/>
        </p:nvSpPr>
        <p:spPr>
          <a:xfrm>
            <a:off x="6858086" y="2489200"/>
            <a:ext cx="828938" cy="228600"/>
          </a:xfrm>
          <a:prstGeom prst="roundRect">
            <a:avLst/>
          </a:prstGeom>
          <a:solidFill>
            <a:srgbClr val="D5DB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8D798B9-2DB3-20B0-A2BA-F19C33D76E85}"/>
              </a:ext>
            </a:extLst>
          </p:cNvPr>
          <p:cNvSpPr txBox="1"/>
          <p:nvPr/>
        </p:nvSpPr>
        <p:spPr>
          <a:xfrm>
            <a:off x="7788624" y="2476500"/>
            <a:ext cx="114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0760AB"/>
                </a:solidFill>
                <a:latin typeface="Segoe UI Semibold" panose="020B0702040204020203" pitchFamily="34" charset="0"/>
              </a:rPr>
              <a:t>21 % pCR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6AF3AB5-512D-2E8A-F814-BE11FAE57461}"/>
              </a:ext>
            </a:extLst>
          </p:cNvPr>
          <p:cNvSpPr txBox="1"/>
          <p:nvPr/>
        </p:nvSpPr>
        <p:spPr>
          <a:xfrm>
            <a:off x="6604000" y="2946400"/>
            <a:ext cx="497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I-SPY1</a:t>
            </a: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   139 pacientes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29C797C5-B2A7-6484-1017-A218D8D679B7}"/>
              </a:ext>
            </a:extLst>
          </p:cNvPr>
          <p:cNvSpPr/>
          <p:nvPr/>
        </p:nvSpPr>
        <p:spPr>
          <a:xfrm>
            <a:off x="6604000" y="3225800"/>
            <a:ext cx="163964" cy="228600"/>
          </a:xfrm>
          <a:prstGeom prst="roundRect">
            <a:avLst>
              <a:gd name="adj" fmla="val 23237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D7E0D1E8-62A1-B3B1-9FBC-09E8144C1245}"/>
              </a:ext>
            </a:extLst>
          </p:cNvPr>
          <p:cNvSpPr/>
          <p:nvPr/>
        </p:nvSpPr>
        <p:spPr>
          <a:xfrm>
            <a:off x="6793364" y="3225800"/>
            <a:ext cx="410398" cy="228600"/>
          </a:xfrm>
          <a:prstGeom prst="roundRect">
            <a:avLst/>
          </a:prstGeom>
          <a:solidFill>
            <a:srgbClr val="D5DB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6D3D14F-F97E-E499-AFE7-A752B3F78810}"/>
              </a:ext>
            </a:extLst>
          </p:cNvPr>
          <p:cNvSpPr txBox="1"/>
          <p:nvPr/>
        </p:nvSpPr>
        <p:spPr>
          <a:xfrm>
            <a:off x="7305362" y="3213100"/>
            <a:ext cx="114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0760AB"/>
                </a:solidFill>
                <a:latin typeface="Segoe UI Semibold" panose="020B0702040204020203" pitchFamily="34" charset="0"/>
              </a:rPr>
              <a:t>27 % pCR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0BE0359-DD58-FA41-EEE4-DD7B36A669BA}"/>
              </a:ext>
            </a:extLst>
          </p:cNvPr>
          <p:cNvSpPr txBox="1"/>
          <p:nvPr/>
        </p:nvSpPr>
        <p:spPr>
          <a:xfrm>
            <a:off x="6604000" y="3683000"/>
            <a:ext cx="4978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I-SPY2</a:t>
            </a: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 (con ACRIN 6698)   883 pacientes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F7480CEE-A32C-B95B-AD61-12277DD47D63}"/>
              </a:ext>
            </a:extLst>
          </p:cNvPr>
          <p:cNvSpPr/>
          <p:nvPr/>
        </p:nvSpPr>
        <p:spPr>
          <a:xfrm>
            <a:off x="6604000" y="3962400"/>
            <a:ext cx="1225414" cy="228600"/>
          </a:xfrm>
          <a:prstGeom prst="roundRect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DBA787B3-8598-FA70-9904-E18E060C003D}"/>
              </a:ext>
            </a:extLst>
          </p:cNvPr>
          <p:cNvSpPr/>
          <p:nvPr/>
        </p:nvSpPr>
        <p:spPr>
          <a:xfrm>
            <a:off x="7854814" y="3962400"/>
            <a:ext cx="2559186" cy="228600"/>
          </a:xfrm>
          <a:prstGeom prst="roundRect">
            <a:avLst/>
          </a:prstGeom>
          <a:solidFill>
            <a:srgbClr val="D5DBE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889A276-4527-1055-9C5B-ADA6B88BFFC6}"/>
              </a:ext>
            </a:extLst>
          </p:cNvPr>
          <p:cNvSpPr txBox="1"/>
          <p:nvPr/>
        </p:nvSpPr>
        <p:spPr>
          <a:xfrm>
            <a:off x="10515600" y="3949700"/>
            <a:ext cx="1143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0760AB"/>
                </a:solidFill>
                <a:latin typeface="Segoe UI Semibold" panose="020B0702040204020203" pitchFamily="34" charset="0"/>
              </a:rPr>
              <a:t>32 % pCR</a:t>
            </a: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B6A1108-429E-C89A-048E-6C76976E94FB}"/>
              </a:ext>
            </a:extLst>
          </p:cNvPr>
          <p:cNvSpPr/>
          <p:nvPr/>
        </p:nvSpPr>
        <p:spPr>
          <a:xfrm>
            <a:off x="6604000" y="4445000"/>
            <a:ext cx="4978400" cy="1244600"/>
          </a:xfrm>
          <a:prstGeom prst="roundRect">
            <a:avLst>
              <a:gd name="adj" fmla="val 10204"/>
            </a:avLst>
          </a:prstGeom>
          <a:solidFill>
            <a:srgbClr val="E9F1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BF0906B-AA17-8929-EEA0-908FB1BFBF52}"/>
              </a:ext>
            </a:extLst>
          </p:cNvPr>
          <p:cNvSpPr txBox="1"/>
          <p:nvPr/>
        </p:nvSpPr>
        <p:spPr>
          <a:xfrm>
            <a:off x="6807200" y="4445000"/>
            <a:ext cx="12700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3000">
                <a:solidFill>
                  <a:srgbClr val="0760AB"/>
                </a:solidFill>
                <a:latin typeface="Segoe UI Semibold" panose="020B0702040204020203" pitchFamily="34" charset="0"/>
              </a:rPr>
              <a:t>71 %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11F0C2AF-33A6-6AAB-2D7C-F85F28465DDE}"/>
              </a:ext>
            </a:extLst>
          </p:cNvPr>
          <p:cNvSpPr txBox="1"/>
          <p:nvPr/>
        </p:nvSpPr>
        <p:spPr>
          <a:xfrm>
            <a:off x="8128000" y="4445000"/>
            <a:ext cx="3276600" cy="1244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s-ES" sz="1200">
                <a:solidFill>
                  <a:srgbClr val="16191F"/>
                </a:solidFill>
                <a:latin typeface="Segoe UI" panose="020B0502040204020203" pitchFamily="34" charset="0"/>
              </a:rPr>
              <a:t>acertaría un modelo que dijera siempre «no pCR». Por eso medimos con AUC y F1 equilibrada, no con accuracy.</a:t>
            </a:r>
          </a:p>
        </p:txBody>
      </p:sp>
    </p:spTree>
    <p:extLst>
      <p:ext uri="{BB962C8B-B14F-4D97-AF65-F5344CB8AC3E}">
        <p14:creationId xmlns:p14="http://schemas.microsoft.com/office/powerpoint/2010/main" val="1387558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5C08DA46-A12F-89D6-7A05-7463701D6B3B}"/>
              </a:ext>
            </a:extLst>
          </p:cNvPr>
          <p:cNvSpPr/>
          <p:nvPr/>
        </p:nvSpPr>
        <p:spPr>
          <a:xfrm>
            <a:off x="609600" y="393700"/>
            <a:ext cx="279400" cy="2794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100">
                <a:solidFill>
                  <a:srgbClr val="FFFFFF"/>
                </a:solidFill>
                <a:latin typeface="Segoe UI Semibold" panose="020B0702040204020203" pitchFamily="34" charset="0"/>
              </a:rPr>
              <a:t>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D06D454-7C32-8D41-3FB2-1AEB3A91115B}"/>
              </a:ext>
            </a:extLst>
          </p:cNvPr>
          <p:cNvSpPr txBox="1"/>
          <p:nvPr/>
        </p:nvSpPr>
        <p:spPr>
          <a:xfrm>
            <a:off x="990600" y="3937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6B7380"/>
                </a:solidFill>
                <a:latin typeface="Segoe UI" panose="020B0502040204020203" pitchFamily="34" charset="0"/>
              </a:rPr>
              <a:t>Arquitectura de la CNN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1BD94C1-3D24-A66B-F291-4CE199DC877F}"/>
              </a:ext>
            </a:extLst>
          </p:cNvPr>
          <p:cNvSpPr txBox="1"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>
                <a:solidFill>
                  <a:srgbClr val="16191F"/>
                </a:solidFill>
                <a:latin typeface="Segoe UI Semibold" panose="020B0702040204020203" pitchFamily="34" charset="0"/>
              </a:rPr>
              <a:t>Una CNN propia de 106.001 parámetros, entrenada desde cero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60CCF95-F832-1D50-AED7-F0D7D6139C1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05000"/>
            <a:ext cx="1143000" cy="1143000"/>
          </a:xfrm>
          <a:prstGeom prst="roundRect">
            <a:avLst>
              <a:gd name="adj" fmla="val 5556"/>
            </a:avLst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C3ABE8D-EC29-C848-F5FE-861872319A4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006600"/>
            <a:ext cx="1143000" cy="1143000"/>
          </a:xfrm>
          <a:prstGeom prst="roundRect">
            <a:avLst>
              <a:gd name="adj" fmla="val 5556"/>
            </a:avLst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041CF83-EB47-1900-6CDF-8B1B0267125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108200"/>
            <a:ext cx="1143000" cy="1143000"/>
          </a:xfrm>
          <a:prstGeom prst="roundRect">
            <a:avLst>
              <a:gd name="adj" fmla="val 5556"/>
            </a:avLst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D65C55-FF8B-D3EA-B76D-604F1F5C2137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413000" y="2006600"/>
            <a:ext cx="1143000" cy="1143000"/>
          </a:xfrm>
          <a:prstGeom prst="roundRect">
            <a:avLst>
              <a:gd name="adj" fmla="val 5556"/>
            </a:avLst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F6FA15E6-D6D1-80A4-B2A6-0A5C502DFBA6}"/>
              </a:ext>
            </a:extLst>
          </p:cNvPr>
          <p:cNvSpPr/>
          <p:nvPr/>
        </p:nvSpPr>
        <p:spPr>
          <a:xfrm>
            <a:off x="2698750" y="2292350"/>
            <a:ext cx="571500" cy="571500"/>
          </a:xfrm>
          <a:prstGeom prst="rect">
            <a:avLst/>
          </a:prstGeom>
          <a:noFill/>
          <a:ln w="22225" cap="flat" cmpd="sng" algn="ctr">
            <a:solidFill>
              <a:srgbClr val="0760AB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95EBDAEC-29C7-9520-7C2A-A825F319E17B}"/>
              </a:ext>
            </a:extLst>
          </p:cNvPr>
          <p:cNvCxnSpPr/>
          <p:nvPr/>
        </p:nvCxnSpPr>
        <p:spPr>
          <a:xfrm>
            <a:off x="2057400" y="2578100"/>
            <a:ext cx="2540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0493015-C0EF-CC08-F69D-B58E9AB323F5}"/>
              </a:ext>
            </a:extLst>
          </p:cNvPr>
          <p:cNvCxnSpPr/>
          <p:nvPr/>
        </p:nvCxnSpPr>
        <p:spPr>
          <a:xfrm>
            <a:off x="3657600" y="2578100"/>
            <a:ext cx="2286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0F572CCA-4085-671E-C644-288A46C67894}"/>
              </a:ext>
            </a:extLst>
          </p:cNvPr>
          <p:cNvSpPr/>
          <p:nvPr/>
        </p:nvSpPr>
        <p:spPr>
          <a:xfrm>
            <a:off x="4114800" y="1968500"/>
            <a:ext cx="152400" cy="1219200"/>
          </a:xfrm>
          <a:prstGeom prst="roundRect">
            <a:avLst/>
          </a:prstGeom>
          <a:solidFill>
            <a:srgbClr val="8DB8E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28690D48-4143-9C98-0170-C3737E593022}"/>
              </a:ext>
            </a:extLst>
          </p:cNvPr>
          <p:cNvCxnSpPr/>
          <p:nvPr/>
        </p:nvCxnSpPr>
        <p:spPr>
          <a:xfrm>
            <a:off x="4343400" y="2578100"/>
            <a:ext cx="673100" cy="0"/>
          </a:xfrm>
          <a:prstGeom prst="line">
            <a:avLst/>
          </a:prstGeom>
          <a:ln w="15875">
            <a:solidFill>
              <a:srgbClr val="D5DBE3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FF75912-8424-9DF6-6073-AE96B044B283}"/>
              </a:ext>
            </a:extLst>
          </p:cNvPr>
          <p:cNvSpPr txBox="1"/>
          <p:nvPr/>
        </p:nvSpPr>
        <p:spPr>
          <a:xfrm>
            <a:off x="3695700" y="3327400"/>
            <a:ext cx="99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Bloque 1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16 × 64 × 64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2E87C409-2243-5EBA-53D0-ED734D5B627E}"/>
              </a:ext>
            </a:extLst>
          </p:cNvPr>
          <p:cNvSpPr/>
          <p:nvPr/>
        </p:nvSpPr>
        <p:spPr>
          <a:xfrm>
            <a:off x="5092700" y="2120900"/>
            <a:ext cx="228600" cy="914400"/>
          </a:xfrm>
          <a:prstGeom prst="roundRect">
            <a:avLst>
              <a:gd name="adj" fmla="val 11111"/>
            </a:avLst>
          </a:prstGeom>
          <a:solidFill>
            <a:srgbClr val="4F8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21AB233A-2CFC-9FCA-9372-C1B5CD045646}"/>
              </a:ext>
            </a:extLst>
          </p:cNvPr>
          <p:cNvCxnSpPr/>
          <p:nvPr/>
        </p:nvCxnSpPr>
        <p:spPr>
          <a:xfrm>
            <a:off x="5397500" y="2578100"/>
            <a:ext cx="584200" cy="0"/>
          </a:xfrm>
          <a:prstGeom prst="line">
            <a:avLst/>
          </a:prstGeom>
          <a:ln w="15875">
            <a:solidFill>
              <a:srgbClr val="D5DBE3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0D07A980-44C3-910D-6B88-0C27059B305A}"/>
              </a:ext>
            </a:extLst>
          </p:cNvPr>
          <p:cNvSpPr txBox="1"/>
          <p:nvPr/>
        </p:nvSpPr>
        <p:spPr>
          <a:xfrm>
            <a:off x="4711700" y="3327400"/>
            <a:ext cx="99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Bloque 2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32 × 32 × 32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6A0F576-29A6-56AC-D6C2-2568FDE33FAB}"/>
              </a:ext>
            </a:extLst>
          </p:cNvPr>
          <p:cNvSpPr/>
          <p:nvPr/>
        </p:nvSpPr>
        <p:spPr>
          <a:xfrm>
            <a:off x="6057900" y="2260600"/>
            <a:ext cx="330200" cy="635000"/>
          </a:xfrm>
          <a:prstGeom prst="roundRect">
            <a:avLst>
              <a:gd name="adj" fmla="val 7692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DB6265E-A28E-3A2C-5289-7E9D35F9CC1E}"/>
              </a:ext>
            </a:extLst>
          </p:cNvPr>
          <p:cNvCxnSpPr/>
          <p:nvPr/>
        </p:nvCxnSpPr>
        <p:spPr>
          <a:xfrm>
            <a:off x="6464300" y="2578100"/>
            <a:ext cx="469900" cy="0"/>
          </a:xfrm>
          <a:prstGeom prst="line">
            <a:avLst/>
          </a:prstGeom>
          <a:ln w="15875">
            <a:solidFill>
              <a:srgbClr val="D5DBE3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8A067C4-9CFA-32FB-EDE8-4BF4C11D3F0F}"/>
              </a:ext>
            </a:extLst>
          </p:cNvPr>
          <p:cNvSpPr txBox="1"/>
          <p:nvPr/>
        </p:nvSpPr>
        <p:spPr>
          <a:xfrm>
            <a:off x="5727700" y="3327400"/>
            <a:ext cx="99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Bloque 3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64 × 16 × 16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8FD8F64-2610-24F7-44CD-BF9ABA8C1461}"/>
              </a:ext>
            </a:extLst>
          </p:cNvPr>
          <p:cNvSpPr/>
          <p:nvPr/>
        </p:nvSpPr>
        <p:spPr>
          <a:xfrm>
            <a:off x="7010400" y="2362200"/>
            <a:ext cx="457200" cy="431800"/>
          </a:xfrm>
          <a:prstGeom prst="roundRect">
            <a:avLst>
              <a:gd name="adj" fmla="val 5882"/>
            </a:avLst>
          </a:prstGeom>
          <a:solidFill>
            <a:srgbClr val="0548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98AE982-D78F-7A13-F436-2B675B976F99}"/>
              </a:ext>
            </a:extLst>
          </p:cNvPr>
          <p:cNvSpPr txBox="1"/>
          <p:nvPr/>
        </p:nvSpPr>
        <p:spPr>
          <a:xfrm>
            <a:off x="6743700" y="3327400"/>
            <a:ext cx="9906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Bloque 4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128 × 8 × 8</a:t>
            </a:r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20B1EF3F-28A6-49E2-52DC-BE9FA734A42B}"/>
              </a:ext>
            </a:extLst>
          </p:cNvPr>
          <p:cNvSpPr/>
          <p:nvPr/>
        </p:nvSpPr>
        <p:spPr>
          <a:xfrm>
            <a:off x="8204200" y="2197100"/>
            <a:ext cx="101600" cy="762000"/>
          </a:xfrm>
          <a:prstGeom prst="roundRect">
            <a:avLst>
              <a:gd name="adj" fmla="val 25000"/>
            </a:avLst>
          </a:prstGeom>
          <a:solidFill>
            <a:srgbClr val="05488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3ACE927-641B-1ABF-E856-BB9AC53E2117}"/>
              </a:ext>
            </a:extLst>
          </p:cNvPr>
          <p:cNvSpPr/>
          <p:nvPr/>
        </p:nvSpPr>
        <p:spPr>
          <a:xfrm>
            <a:off x="9283700" y="2324100"/>
            <a:ext cx="101600" cy="508000"/>
          </a:xfrm>
          <a:prstGeom prst="roundRect">
            <a:avLst>
              <a:gd name="adj" fmla="val 25000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BAAD7C22-147C-DB64-4143-841A4C30A945}"/>
              </a:ext>
            </a:extLst>
          </p:cNvPr>
          <p:cNvSpPr/>
          <p:nvPr/>
        </p:nvSpPr>
        <p:spPr>
          <a:xfrm>
            <a:off x="10350500" y="2387600"/>
            <a:ext cx="381000" cy="3810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0" name="Conector recto 29">
            <a:extLst>
              <a:ext uri="{FF2B5EF4-FFF2-40B4-BE49-F238E27FC236}">
                <a16:creationId xmlns:a16="http://schemas.microsoft.com/office/drawing/2014/main" id="{F621A3C9-2A96-C2D9-4A21-F50D2FD91F2C}"/>
              </a:ext>
            </a:extLst>
          </p:cNvPr>
          <p:cNvCxnSpPr/>
          <p:nvPr/>
        </p:nvCxnSpPr>
        <p:spPr>
          <a:xfrm>
            <a:off x="7543800" y="2578100"/>
            <a:ext cx="584200" cy="0"/>
          </a:xfrm>
          <a:prstGeom prst="line">
            <a:avLst/>
          </a:prstGeom>
          <a:ln w="15875">
            <a:solidFill>
              <a:srgbClr val="6B7380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E432005-9D59-8099-6231-3996653C2C7C}"/>
              </a:ext>
            </a:extLst>
          </p:cNvPr>
          <p:cNvCxnSpPr/>
          <p:nvPr/>
        </p:nvCxnSpPr>
        <p:spPr>
          <a:xfrm>
            <a:off x="8382000" y="2578100"/>
            <a:ext cx="825500" cy="0"/>
          </a:xfrm>
          <a:prstGeom prst="line">
            <a:avLst/>
          </a:prstGeom>
          <a:ln w="15875">
            <a:solidFill>
              <a:srgbClr val="D5DBE3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31">
            <a:extLst>
              <a:ext uri="{FF2B5EF4-FFF2-40B4-BE49-F238E27FC236}">
                <a16:creationId xmlns:a16="http://schemas.microsoft.com/office/drawing/2014/main" id="{9628EC53-65B5-4AC5-C39C-5DC9F07C038A}"/>
              </a:ext>
            </a:extLst>
          </p:cNvPr>
          <p:cNvCxnSpPr/>
          <p:nvPr/>
        </p:nvCxnSpPr>
        <p:spPr>
          <a:xfrm>
            <a:off x="9461500" y="2578100"/>
            <a:ext cx="812800" cy="0"/>
          </a:xfrm>
          <a:prstGeom prst="line">
            <a:avLst/>
          </a:prstGeom>
          <a:ln w="15875">
            <a:solidFill>
              <a:srgbClr val="D5DBE3"/>
            </a:solidFill>
            <a:prstDash val="solid"/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FDD44E3D-891B-7953-156A-992F97DF8DDA}"/>
              </a:ext>
            </a:extLst>
          </p:cNvPr>
          <p:cNvSpPr txBox="1"/>
          <p:nvPr/>
        </p:nvSpPr>
        <p:spPr>
          <a:xfrm>
            <a:off x="419100" y="3327400"/>
            <a:ext cx="1727200" cy="635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Entrada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3 × 256 × 256</a:t>
            </a: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3 momentos, no RGB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FC153FAD-244C-BD6B-AFAF-54655992E647}"/>
              </a:ext>
            </a:extLst>
          </p:cNvPr>
          <p:cNvSpPr txBox="1"/>
          <p:nvPr/>
        </p:nvSpPr>
        <p:spPr>
          <a:xfrm>
            <a:off x="2222500" y="3327400"/>
            <a:ext cx="1524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Recorte central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3 × 128 × 128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FA1325A-F23D-954A-DFA5-A6B78464ACF2}"/>
              </a:ext>
            </a:extLst>
          </p:cNvPr>
          <p:cNvSpPr txBox="1"/>
          <p:nvPr/>
        </p:nvSpPr>
        <p:spPr>
          <a:xfrm>
            <a:off x="7747000" y="3327400"/>
            <a:ext cx="1016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Media global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128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C6F7F2D1-294D-8AAE-486B-B1261F6D3625}"/>
              </a:ext>
            </a:extLst>
          </p:cNvPr>
          <p:cNvSpPr txBox="1"/>
          <p:nvPr/>
        </p:nvSpPr>
        <p:spPr>
          <a:xfrm>
            <a:off x="8763000" y="3327400"/>
            <a:ext cx="1143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Densa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64, dropout 0,5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3C95A89E-ACA9-E586-D387-D33032BC8D18}"/>
              </a:ext>
            </a:extLst>
          </p:cNvPr>
          <p:cNvSpPr txBox="1"/>
          <p:nvPr/>
        </p:nvSpPr>
        <p:spPr>
          <a:xfrm>
            <a:off x="9906000" y="3327400"/>
            <a:ext cx="12700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>
              <a:lnSpc>
                <a:spcPct val="95000"/>
              </a:lnSpc>
            </a:pPr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Salida</a:t>
            </a:r>
            <a:endParaRPr lang="es-ES" sz="105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ctr"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1 neurona, sigmoide</a:t>
            </a:r>
          </a:p>
        </p:txBody>
      </p:sp>
      <p:cxnSp>
        <p:nvCxnSpPr>
          <p:cNvPr id="38" name="Conector recto 37">
            <a:extLst>
              <a:ext uri="{FF2B5EF4-FFF2-40B4-BE49-F238E27FC236}">
                <a16:creationId xmlns:a16="http://schemas.microsoft.com/office/drawing/2014/main" id="{3FE7073F-58BB-FAAB-E241-CC6720B49BC5}"/>
              </a:ext>
            </a:extLst>
          </p:cNvPr>
          <p:cNvCxnSpPr/>
          <p:nvPr/>
        </p:nvCxnSpPr>
        <p:spPr>
          <a:xfrm>
            <a:off x="3708400" y="3860800"/>
            <a:ext cx="4013200" cy="0"/>
          </a:xfrm>
          <a:prstGeom prst="line">
            <a:avLst/>
          </a:prstGeom>
          <a:ln w="12700">
            <a:solidFill>
              <a:srgbClr val="D5DBE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8E559EAA-0F6E-2FD1-BA6D-2042ED1CB586}"/>
              </a:ext>
            </a:extLst>
          </p:cNvPr>
          <p:cNvCxnSpPr/>
          <p:nvPr/>
        </p:nvCxnSpPr>
        <p:spPr>
          <a:xfrm>
            <a:off x="3708400" y="3797300"/>
            <a:ext cx="0" cy="63500"/>
          </a:xfrm>
          <a:prstGeom prst="line">
            <a:avLst/>
          </a:prstGeom>
          <a:ln w="12700">
            <a:solidFill>
              <a:srgbClr val="D5DBE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47E8AABB-D613-DA9F-2FFA-95552AC15614}"/>
              </a:ext>
            </a:extLst>
          </p:cNvPr>
          <p:cNvCxnSpPr/>
          <p:nvPr/>
        </p:nvCxnSpPr>
        <p:spPr>
          <a:xfrm>
            <a:off x="7721600" y="3797300"/>
            <a:ext cx="0" cy="63500"/>
          </a:xfrm>
          <a:prstGeom prst="line">
            <a:avLst/>
          </a:prstGeom>
          <a:ln w="12700">
            <a:solidFill>
              <a:srgbClr val="D5DBE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030D230-1991-A1DE-9315-623696B97DE6}"/>
              </a:ext>
            </a:extLst>
          </p:cNvPr>
          <p:cNvSpPr txBox="1"/>
          <p:nvPr/>
        </p:nvSpPr>
        <p:spPr>
          <a:xfrm>
            <a:off x="3581400" y="3911600"/>
            <a:ext cx="4267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cada bloque: conv 3 × 3, BatchNorm, ReLU y max pooling 2 × 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17C0E527-2A36-40AC-CB8B-A360E993B92E}"/>
              </a:ext>
            </a:extLst>
          </p:cNvPr>
          <p:cNvSpPr txBox="1"/>
          <p:nvPr/>
        </p:nvSpPr>
        <p:spPr>
          <a:xfrm>
            <a:off x="609600" y="4292600"/>
            <a:ext cx="29210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Parámetros  </a:t>
            </a:r>
            <a:r>
              <a:rPr lang="es-ES" sz="1400">
                <a:solidFill>
                  <a:srgbClr val="0760AB"/>
                </a:solidFill>
                <a:latin typeface="Segoe UI Semibold" panose="020B0702040204020203" pitchFamily="34" charset="0"/>
              </a:rPr>
              <a:t>106.001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616B6DF-3FE5-3336-6869-5E2AD4A59127}"/>
              </a:ext>
            </a:extLst>
          </p:cNvPr>
          <p:cNvSpPr txBox="1"/>
          <p:nvPr/>
        </p:nvSpPr>
        <p:spPr>
          <a:xfrm>
            <a:off x="3746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464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50344FA-0154-21F8-D8F5-1407FECCA46A}"/>
              </a:ext>
            </a:extLst>
          </p:cNvPr>
          <p:cNvSpPr txBox="1"/>
          <p:nvPr/>
        </p:nvSpPr>
        <p:spPr>
          <a:xfrm>
            <a:off x="4762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4.672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F4CE5C3-1CEB-6FC2-2D50-938333F99835}"/>
              </a:ext>
            </a:extLst>
          </p:cNvPr>
          <p:cNvSpPr txBox="1"/>
          <p:nvPr/>
        </p:nvSpPr>
        <p:spPr>
          <a:xfrm>
            <a:off x="5778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18.560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B1268BF0-8C34-952A-F5C1-F50CB9CC6095}"/>
              </a:ext>
            </a:extLst>
          </p:cNvPr>
          <p:cNvSpPr txBox="1"/>
          <p:nvPr/>
        </p:nvSpPr>
        <p:spPr>
          <a:xfrm>
            <a:off x="6794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73.984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5DEB0EE-0853-7053-8707-7EEAB77189B7}"/>
              </a:ext>
            </a:extLst>
          </p:cNvPr>
          <p:cNvSpPr txBox="1"/>
          <p:nvPr/>
        </p:nvSpPr>
        <p:spPr>
          <a:xfrm>
            <a:off x="7810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0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DEC0C66-5771-F38B-C557-B44CFE0ED159}"/>
              </a:ext>
            </a:extLst>
          </p:cNvPr>
          <p:cNvSpPr txBox="1"/>
          <p:nvPr/>
        </p:nvSpPr>
        <p:spPr>
          <a:xfrm>
            <a:off x="88900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8.256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499DA0C9-F928-76B5-D11D-C6E4D9E1AABB}"/>
              </a:ext>
            </a:extLst>
          </p:cNvPr>
          <p:cNvSpPr txBox="1"/>
          <p:nvPr/>
        </p:nvSpPr>
        <p:spPr>
          <a:xfrm>
            <a:off x="10096500" y="43180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65</a:t>
            </a: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B77B9EC2-41EF-A243-6FE5-B8763A3B06B6}"/>
              </a:ext>
            </a:extLst>
          </p:cNvPr>
          <p:cNvSpPr/>
          <p:nvPr/>
        </p:nvSpPr>
        <p:spPr>
          <a:xfrm>
            <a:off x="609600" y="4876800"/>
            <a:ext cx="2628900" cy="965200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0E31742-D974-46B7-6CAB-7BEDBFE64E67}"/>
              </a:ext>
            </a:extLst>
          </p:cNvPr>
          <p:cNvSpPr txBox="1"/>
          <p:nvPr/>
        </p:nvSpPr>
        <p:spPr>
          <a:xfrm>
            <a:off x="762000" y="5003800"/>
            <a:ext cx="23241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Punto de partida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La arquitectura de referencia del caso, sin pesos preentrenados.</a:t>
            </a:r>
          </a:p>
        </p:txBody>
      </p:sp>
      <p:sp>
        <p:nvSpPr>
          <p:cNvPr id="52" name="Rectángulo: esquinas redondeadas 51">
            <a:extLst>
              <a:ext uri="{FF2B5EF4-FFF2-40B4-BE49-F238E27FC236}">
                <a16:creationId xmlns:a16="http://schemas.microsoft.com/office/drawing/2014/main" id="{ED96FE43-8DC6-7602-12F1-5A9A35F3F68B}"/>
              </a:ext>
            </a:extLst>
          </p:cNvPr>
          <p:cNvSpPr/>
          <p:nvPr/>
        </p:nvSpPr>
        <p:spPr>
          <a:xfrm>
            <a:off x="3390900" y="4876800"/>
            <a:ext cx="2628900" cy="965200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D250CFD-56FC-D1C8-8BDD-5F809D76C468}"/>
              </a:ext>
            </a:extLst>
          </p:cNvPr>
          <p:cNvSpPr txBox="1"/>
          <p:nvPr/>
        </p:nvSpPr>
        <p:spPr>
          <a:xfrm>
            <a:off x="3543300" y="5003800"/>
            <a:ext cx="23241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Tamaño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Con la mitad de filtros aprendía peor; con dos convoluciones por bloque memorizaba.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3A08EA6A-F5CE-48A8-7D5A-C420DA572FD1}"/>
              </a:ext>
            </a:extLst>
          </p:cNvPr>
          <p:cNvSpPr/>
          <p:nvPr/>
        </p:nvSpPr>
        <p:spPr>
          <a:xfrm>
            <a:off x="6172200" y="4876800"/>
            <a:ext cx="2628900" cy="965200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3F08251-7016-B01D-DA84-3AB6C0E34972}"/>
              </a:ext>
            </a:extLst>
          </p:cNvPr>
          <p:cNvSpPr txBox="1"/>
          <p:nvPr/>
        </p:nvSpPr>
        <p:spPr>
          <a:xfrm>
            <a:off x="6324600" y="5003800"/>
            <a:ext cx="23241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BatchNorm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Sin ella la red apenas aprendía: en dos folds se quedaba con la primera época.</a:t>
            </a:r>
          </a:p>
        </p:txBody>
      </p:sp>
      <p:sp>
        <p:nvSpPr>
          <p:cNvPr id="56" name="Rectángulo: esquinas redondeadas 55">
            <a:extLst>
              <a:ext uri="{FF2B5EF4-FFF2-40B4-BE49-F238E27FC236}">
                <a16:creationId xmlns:a16="http://schemas.microsoft.com/office/drawing/2014/main" id="{E66466FC-2667-C4F2-D738-458EB66D8254}"/>
              </a:ext>
            </a:extLst>
          </p:cNvPr>
          <p:cNvSpPr/>
          <p:nvPr/>
        </p:nvSpPr>
        <p:spPr>
          <a:xfrm>
            <a:off x="8953500" y="4876800"/>
            <a:ext cx="2628900" cy="965200"/>
          </a:xfrm>
          <a:prstGeom prst="roundRect">
            <a:avLst>
              <a:gd name="adj" fmla="val 13158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5700004A-210A-D528-0544-C9C72F2FC9F7}"/>
              </a:ext>
            </a:extLst>
          </p:cNvPr>
          <p:cNvSpPr txBox="1"/>
          <p:nvPr/>
        </p:nvSpPr>
        <p:spPr>
          <a:xfrm>
            <a:off x="9105900" y="5003800"/>
            <a:ext cx="23241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Recorte 128 × 128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El tumor está en el centro: mejoró los 5 folds y quitó los sobreentrenados.</a:t>
            </a:r>
          </a:p>
        </p:txBody>
      </p:sp>
    </p:spTree>
    <p:extLst>
      <p:ext uri="{BB962C8B-B14F-4D97-AF65-F5344CB8AC3E}">
        <p14:creationId xmlns:p14="http://schemas.microsoft.com/office/powerpoint/2010/main" val="3345829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EDF64D34-D942-A0F1-C7D5-43688C62A132}"/>
              </a:ext>
            </a:extLst>
          </p:cNvPr>
          <p:cNvSpPr/>
          <p:nvPr/>
        </p:nvSpPr>
        <p:spPr>
          <a:xfrm>
            <a:off x="609600" y="393700"/>
            <a:ext cx="279400" cy="2794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100">
                <a:solidFill>
                  <a:srgbClr val="FFFFFF"/>
                </a:solidFill>
                <a:latin typeface="Segoe UI Semibold" panose="020B0702040204020203" pitchFamily="34" charset="0"/>
              </a:rPr>
              <a:t>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6718AF-9449-6A3E-9640-4397B37DEFBA}"/>
              </a:ext>
            </a:extLst>
          </p:cNvPr>
          <p:cNvSpPr txBox="1"/>
          <p:nvPr/>
        </p:nvSpPr>
        <p:spPr>
          <a:xfrm>
            <a:off x="990600" y="3937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6B7380"/>
                </a:solidFill>
                <a:latin typeface="Segoe UI" panose="020B0502040204020203" pitchFamily="34" charset="0"/>
              </a:rPr>
              <a:t>Entrenamiento, decisiones y resultados internos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368E94-E073-0B77-E0BC-4487CC0B254D}"/>
              </a:ext>
            </a:extLst>
          </p:cNvPr>
          <p:cNvSpPr txBox="1"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>
                <a:solidFill>
                  <a:srgbClr val="16191F"/>
                </a:solidFill>
                <a:latin typeface="Segoe UI Semibold" panose="020B0702040204020203" pitchFamily="34" charset="0"/>
              </a:rPr>
              <a:t>Parada temprana y decisiones tomadas solo con la validación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03DF3B-4FCD-3A3F-63B4-7D85C251E6E9}"/>
              </a:ext>
            </a:extLst>
          </p:cNvPr>
          <p:cNvSpPr txBox="1"/>
          <p:nvPr/>
        </p:nvSpPr>
        <p:spPr>
          <a:xfrm>
            <a:off x="609600" y="1447800"/>
            <a:ext cx="5080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AUC por paciente en cada época (fold 3, semilla 42)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DEDFC30-BC04-4A5A-F935-79F937B58AEB}"/>
              </a:ext>
            </a:extLst>
          </p:cNvPr>
          <p:cNvSpPr/>
          <p:nvPr/>
        </p:nvSpPr>
        <p:spPr>
          <a:xfrm>
            <a:off x="3974690" y="1803400"/>
            <a:ext cx="1613310" cy="1879600"/>
          </a:xfrm>
          <a:prstGeom prst="rect">
            <a:avLst/>
          </a:prstGeom>
          <a:solidFill>
            <a:srgbClr val="E9F1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81DF5D4E-8B63-C35E-8350-2B0DE9F9AF48}"/>
              </a:ext>
            </a:extLst>
          </p:cNvPr>
          <p:cNvCxnSpPr/>
          <p:nvPr/>
        </p:nvCxnSpPr>
        <p:spPr>
          <a:xfrm>
            <a:off x="1041400" y="3683000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79DF93F2-FF11-20C7-4CDD-30201681E0A6}"/>
              </a:ext>
            </a:extLst>
          </p:cNvPr>
          <p:cNvSpPr txBox="1"/>
          <p:nvPr/>
        </p:nvSpPr>
        <p:spPr>
          <a:xfrm>
            <a:off x="584200" y="3594100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0,45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F17D40E-0D2B-F7CB-455D-72A143C2713B}"/>
              </a:ext>
            </a:extLst>
          </p:cNvPr>
          <p:cNvCxnSpPr/>
          <p:nvPr/>
        </p:nvCxnSpPr>
        <p:spPr>
          <a:xfrm>
            <a:off x="1041400" y="3414486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46E799E5-D065-29D7-E993-07DFA635B835}"/>
              </a:ext>
            </a:extLst>
          </p:cNvPr>
          <p:cNvSpPr txBox="1"/>
          <p:nvPr/>
        </p:nvSpPr>
        <p:spPr>
          <a:xfrm>
            <a:off x="584200" y="3325586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0,50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7E9D452-D077-EFBB-3A08-DB76488872C7}"/>
              </a:ext>
            </a:extLst>
          </p:cNvPr>
          <p:cNvCxnSpPr/>
          <p:nvPr/>
        </p:nvCxnSpPr>
        <p:spPr>
          <a:xfrm>
            <a:off x="1041400" y="3145971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021F4F-8F5C-75C1-11D4-9B1FF8CD046D}"/>
              </a:ext>
            </a:extLst>
          </p:cNvPr>
          <p:cNvSpPr txBox="1"/>
          <p:nvPr/>
        </p:nvSpPr>
        <p:spPr>
          <a:xfrm>
            <a:off x="584200" y="3057071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0,55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B19621C4-8495-83E3-A50D-3214D9F32A95}"/>
              </a:ext>
            </a:extLst>
          </p:cNvPr>
          <p:cNvCxnSpPr/>
          <p:nvPr/>
        </p:nvCxnSpPr>
        <p:spPr>
          <a:xfrm>
            <a:off x="1041400" y="2877457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E16D6ED-4FAE-04A0-98C6-030ADFB0CCF8}"/>
              </a:ext>
            </a:extLst>
          </p:cNvPr>
          <p:cNvSpPr txBox="1"/>
          <p:nvPr/>
        </p:nvSpPr>
        <p:spPr>
          <a:xfrm>
            <a:off x="584200" y="2788557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0,60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556E553-9451-A763-A1AB-FDFD3620C7C4}"/>
              </a:ext>
            </a:extLst>
          </p:cNvPr>
          <p:cNvCxnSpPr/>
          <p:nvPr/>
        </p:nvCxnSpPr>
        <p:spPr>
          <a:xfrm>
            <a:off x="1041400" y="2608943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DB945B4-33C1-74B6-B2AE-0C4C4D9E9951}"/>
              </a:ext>
            </a:extLst>
          </p:cNvPr>
          <p:cNvSpPr txBox="1"/>
          <p:nvPr/>
        </p:nvSpPr>
        <p:spPr>
          <a:xfrm>
            <a:off x="584200" y="2520043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0,65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9A69866A-FE3A-429A-F0B7-07690D94BE77}"/>
              </a:ext>
            </a:extLst>
          </p:cNvPr>
          <p:cNvCxnSpPr/>
          <p:nvPr/>
        </p:nvCxnSpPr>
        <p:spPr>
          <a:xfrm>
            <a:off x="1041400" y="2340429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032719B-D7A9-9BD2-03AA-397ECA6197DB}"/>
              </a:ext>
            </a:extLst>
          </p:cNvPr>
          <p:cNvSpPr txBox="1"/>
          <p:nvPr/>
        </p:nvSpPr>
        <p:spPr>
          <a:xfrm>
            <a:off x="584200" y="2251529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0,70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81B0E24A-C206-F5B8-431F-2CAE42722941}"/>
              </a:ext>
            </a:extLst>
          </p:cNvPr>
          <p:cNvCxnSpPr/>
          <p:nvPr/>
        </p:nvCxnSpPr>
        <p:spPr>
          <a:xfrm>
            <a:off x="1041400" y="2071914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2EFE355-E089-1410-4BA6-F73D4C7A6A8E}"/>
              </a:ext>
            </a:extLst>
          </p:cNvPr>
          <p:cNvSpPr txBox="1"/>
          <p:nvPr/>
        </p:nvSpPr>
        <p:spPr>
          <a:xfrm>
            <a:off x="584200" y="1983014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0,75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8FA2278-3E4E-0843-7F69-2749A7D45953}"/>
              </a:ext>
            </a:extLst>
          </p:cNvPr>
          <p:cNvCxnSpPr/>
          <p:nvPr/>
        </p:nvCxnSpPr>
        <p:spPr>
          <a:xfrm>
            <a:off x="1041400" y="1803400"/>
            <a:ext cx="4546600" cy="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18C7D1C-3542-2DE9-EAC9-07599228DA56}"/>
              </a:ext>
            </a:extLst>
          </p:cNvPr>
          <p:cNvSpPr txBox="1"/>
          <p:nvPr/>
        </p:nvSpPr>
        <p:spPr>
          <a:xfrm>
            <a:off x="584200" y="1714500"/>
            <a:ext cx="381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0,80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4E8A891B-CAB0-6B28-0ECE-DACC9580E59D}"/>
              </a:ext>
            </a:extLst>
          </p:cNvPr>
          <p:cNvCxnSpPr/>
          <p:nvPr/>
        </p:nvCxnSpPr>
        <p:spPr>
          <a:xfrm>
            <a:off x="1041400" y="3683000"/>
            <a:ext cx="4546600" cy="0"/>
          </a:xfrm>
          <a:prstGeom prst="line">
            <a:avLst/>
          </a:prstGeom>
          <a:ln w="12700">
            <a:solidFill>
              <a:srgbClr val="D5DBE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CAD828D-C98B-A7DC-2001-9EE8DD1A439A}"/>
              </a:ext>
            </a:extLst>
          </p:cNvPr>
          <p:cNvSpPr txBox="1"/>
          <p:nvPr/>
        </p:nvSpPr>
        <p:spPr>
          <a:xfrm>
            <a:off x="889000" y="3721100"/>
            <a:ext cx="30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1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F48C61-703D-8ED1-A042-263682BBA700}"/>
              </a:ext>
            </a:extLst>
          </p:cNvPr>
          <p:cNvSpPr txBox="1"/>
          <p:nvPr/>
        </p:nvSpPr>
        <p:spPr>
          <a:xfrm>
            <a:off x="2355645" y="3721100"/>
            <a:ext cx="30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11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5FB38C6-F7E4-CBD9-142A-3051064ECD81}"/>
              </a:ext>
            </a:extLst>
          </p:cNvPr>
          <p:cNvSpPr txBox="1"/>
          <p:nvPr/>
        </p:nvSpPr>
        <p:spPr>
          <a:xfrm>
            <a:off x="3822290" y="3721100"/>
            <a:ext cx="30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21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24806E7-8FCD-7BE5-5258-9ACEBC0EA1F3}"/>
              </a:ext>
            </a:extLst>
          </p:cNvPr>
          <p:cNvSpPr txBox="1"/>
          <p:nvPr/>
        </p:nvSpPr>
        <p:spPr>
          <a:xfrm>
            <a:off x="5288935" y="3721100"/>
            <a:ext cx="304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31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3B14012-0A74-D4D8-67EB-2BF2B21EE84B}"/>
              </a:ext>
            </a:extLst>
          </p:cNvPr>
          <p:cNvSpPr txBox="1"/>
          <p:nvPr/>
        </p:nvSpPr>
        <p:spPr>
          <a:xfrm>
            <a:off x="1041400" y="3873500"/>
            <a:ext cx="454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época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C48DABFE-E6E9-B0A9-38FD-62912F3989D2}"/>
              </a:ext>
            </a:extLst>
          </p:cNvPr>
          <p:cNvCxnSpPr/>
          <p:nvPr/>
        </p:nvCxnSpPr>
        <p:spPr>
          <a:xfrm>
            <a:off x="1041400" y="3414486"/>
            <a:ext cx="4546600" cy="0"/>
          </a:xfrm>
          <a:prstGeom prst="line">
            <a:avLst/>
          </a:prstGeom>
          <a:ln w="9525" cap="rnd">
            <a:solidFill>
              <a:srgbClr val="6B738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812F72D-6312-A462-401E-F75AB2F7E4D6}"/>
              </a:ext>
            </a:extLst>
          </p:cNvPr>
          <p:cNvSpPr txBox="1"/>
          <p:nvPr/>
        </p:nvSpPr>
        <p:spPr>
          <a:xfrm>
            <a:off x="1092200" y="3236686"/>
            <a:ext cx="762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950">
                <a:solidFill>
                  <a:srgbClr val="6B7380"/>
                </a:solidFill>
                <a:latin typeface="Segoe UI" panose="020B0502040204020203" pitchFamily="34" charset="0"/>
              </a:rPr>
              <a:t>azar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4A2AAAF-69DD-D7BD-98DA-CC5AC62F414B}"/>
              </a:ext>
            </a:extLst>
          </p:cNvPr>
          <p:cNvSpPr/>
          <p:nvPr/>
        </p:nvSpPr>
        <p:spPr>
          <a:xfrm>
            <a:off x="1041400" y="1905435"/>
            <a:ext cx="4546601" cy="1659957"/>
          </a:xfrm>
          <a:custGeom>
            <a:avLst/>
            <a:gdLst/>
            <a:ahLst/>
            <a:cxnLst/>
            <a:rect l="0" t="0" r="0" b="0"/>
            <a:pathLst>
              <a:path w="4546601" h="1659957">
                <a:moveTo>
                  <a:pt x="0" y="1659956"/>
                </a:moveTo>
                <a:lnTo>
                  <a:pt x="146664" y="1559531"/>
                </a:lnTo>
                <a:lnTo>
                  <a:pt x="293329" y="1423126"/>
                </a:lnTo>
                <a:lnTo>
                  <a:pt x="439994" y="1336665"/>
                </a:lnTo>
                <a:lnTo>
                  <a:pt x="586658" y="1445144"/>
                </a:lnTo>
                <a:lnTo>
                  <a:pt x="733322" y="1146556"/>
                </a:lnTo>
                <a:lnTo>
                  <a:pt x="879987" y="1302295"/>
                </a:lnTo>
                <a:lnTo>
                  <a:pt x="1026652" y="1119705"/>
                </a:lnTo>
                <a:lnTo>
                  <a:pt x="1173316" y="1085872"/>
                </a:lnTo>
                <a:lnTo>
                  <a:pt x="1319981" y="990281"/>
                </a:lnTo>
                <a:lnTo>
                  <a:pt x="1466645" y="909727"/>
                </a:lnTo>
                <a:lnTo>
                  <a:pt x="1613310" y="852265"/>
                </a:lnTo>
                <a:lnTo>
                  <a:pt x="1759974" y="802858"/>
                </a:lnTo>
                <a:lnTo>
                  <a:pt x="1906639" y="779229"/>
                </a:lnTo>
                <a:lnTo>
                  <a:pt x="2053303" y="613287"/>
                </a:lnTo>
                <a:lnTo>
                  <a:pt x="2199968" y="645509"/>
                </a:lnTo>
                <a:lnTo>
                  <a:pt x="2346632" y="814673"/>
                </a:lnTo>
                <a:lnTo>
                  <a:pt x="2493297" y="475271"/>
                </a:lnTo>
                <a:lnTo>
                  <a:pt x="2639961" y="641212"/>
                </a:lnTo>
                <a:lnTo>
                  <a:pt x="2786626" y="387198"/>
                </a:lnTo>
                <a:lnTo>
                  <a:pt x="2933290" y="628861"/>
                </a:lnTo>
                <a:lnTo>
                  <a:pt x="3079955" y="509640"/>
                </a:lnTo>
                <a:lnTo>
                  <a:pt x="3226619" y="313625"/>
                </a:lnTo>
                <a:lnTo>
                  <a:pt x="3373284" y="172387"/>
                </a:lnTo>
                <a:lnTo>
                  <a:pt x="3519948" y="292681"/>
                </a:lnTo>
                <a:lnTo>
                  <a:pt x="3666613" y="172387"/>
                </a:lnTo>
                <a:lnTo>
                  <a:pt x="3813277" y="74110"/>
                </a:lnTo>
                <a:lnTo>
                  <a:pt x="3959942" y="123517"/>
                </a:lnTo>
                <a:lnTo>
                  <a:pt x="4106606" y="0"/>
                </a:lnTo>
                <a:lnTo>
                  <a:pt x="4253271" y="85388"/>
                </a:lnTo>
                <a:lnTo>
                  <a:pt x="4399935" y="15037"/>
                </a:lnTo>
                <a:lnTo>
                  <a:pt x="4546600" y="59611"/>
                </a:lnTo>
              </a:path>
            </a:pathLst>
          </a:custGeom>
          <a:ln w="25400">
            <a:solidFill>
              <a:srgbClr val="9AA3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Forma libre: forma 31">
            <a:extLst>
              <a:ext uri="{FF2B5EF4-FFF2-40B4-BE49-F238E27FC236}">
                <a16:creationId xmlns:a16="http://schemas.microsoft.com/office/drawing/2014/main" id="{F5AE89C5-F51C-E299-902D-B503AC4979B0}"/>
              </a:ext>
            </a:extLst>
          </p:cNvPr>
          <p:cNvSpPr/>
          <p:nvPr/>
        </p:nvSpPr>
        <p:spPr>
          <a:xfrm>
            <a:off x="1041400" y="2964370"/>
            <a:ext cx="4546601" cy="624189"/>
          </a:xfrm>
          <a:custGeom>
            <a:avLst/>
            <a:gdLst/>
            <a:ahLst/>
            <a:cxnLst/>
            <a:rect l="0" t="0" r="0" b="0"/>
            <a:pathLst>
              <a:path w="4546601" h="624189">
                <a:moveTo>
                  <a:pt x="0" y="624188"/>
                </a:moveTo>
                <a:lnTo>
                  <a:pt x="146664" y="599990"/>
                </a:lnTo>
                <a:lnTo>
                  <a:pt x="293329" y="563445"/>
                </a:lnTo>
                <a:lnTo>
                  <a:pt x="439994" y="509130"/>
                </a:lnTo>
                <a:lnTo>
                  <a:pt x="586658" y="438017"/>
                </a:lnTo>
                <a:lnTo>
                  <a:pt x="733322" y="333328"/>
                </a:lnTo>
                <a:lnTo>
                  <a:pt x="879987" y="320488"/>
                </a:lnTo>
                <a:lnTo>
                  <a:pt x="1026652" y="259256"/>
                </a:lnTo>
                <a:lnTo>
                  <a:pt x="1173316" y="174319"/>
                </a:lnTo>
                <a:lnTo>
                  <a:pt x="1319981" y="104194"/>
                </a:lnTo>
                <a:lnTo>
                  <a:pt x="1466645" y="44938"/>
                </a:lnTo>
                <a:lnTo>
                  <a:pt x="1613310" y="79507"/>
                </a:lnTo>
                <a:lnTo>
                  <a:pt x="1759974" y="67161"/>
                </a:lnTo>
                <a:lnTo>
                  <a:pt x="1906639" y="80490"/>
                </a:lnTo>
                <a:lnTo>
                  <a:pt x="2053303" y="40492"/>
                </a:lnTo>
                <a:lnTo>
                  <a:pt x="2199968" y="41974"/>
                </a:lnTo>
                <a:lnTo>
                  <a:pt x="2346632" y="38022"/>
                </a:lnTo>
                <a:lnTo>
                  <a:pt x="2493297" y="24693"/>
                </a:lnTo>
                <a:lnTo>
                  <a:pt x="2639961" y="124440"/>
                </a:lnTo>
                <a:lnTo>
                  <a:pt x="2786626" y="0"/>
                </a:lnTo>
                <a:lnTo>
                  <a:pt x="2933290" y="48391"/>
                </a:lnTo>
                <a:lnTo>
                  <a:pt x="3079955" y="51356"/>
                </a:lnTo>
                <a:lnTo>
                  <a:pt x="3226619" y="91848"/>
                </a:lnTo>
                <a:lnTo>
                  <a:pt x="3373284" y="60244"/>
                </a:lnTo>
                <a:lnTo>
                  <a:pt x="3519948" y="46915"/>
                </a:lnTo>
                <a:lnTo>
                  <a:pt x="3666613" y="102218"/>
                </a:lnTo>
                <a:lnTo>
                  <a:pt x="3813277" y="47403"/>
                </a:lnTo>
                <a:lnTo>
                  <a:pt x="3959942" y="114564"/>
                </a:lnTo>
                <a:lnTo>
                  <a:pt x="4106606" y="114564"/>
                </a:lnTo>
                <a:lnTo>
                  <a:pt x="4253271" y="101230"/>
                </a:lnTo>
                <a:lnTo>
                  <a:pt x="4399935" y="113576"/>
                </a:lnTo>
                <a:lnTo>
                  <a:pt x="4546600" y="84442"/>
                </a:lnTo>
              </a:path>
            </a:pathLst>
          </a:custGeom>
          <a:ln w="31750">
            <a:solidFill>
              <a:srgbClr val="0760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AB0B6A26-7763-5C6F-77A9-53FAC2D0B9ED}"/>
              </a:ext>
            </a:extLst>
          </p:cNvPr>
          <p:cNvCxnSpPr/>
          <p:nvPr/>
        </p:nvCxnSpPr>
        <p:spPr>
          <a:xfrm>
            <a:off x="3974690" y="1803400"/>
            <a:ext cx="0" cy="1879600"/>
          </a:xfrm>
          <a:prstGeom prst="line">
            <a:avLst/>
          </a:prstGeom>
          <a:ln w="15875">
            <a:solidFill>
              <a:srgbClr val="0760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lipse 33">
            <a:extLst>
              <a:ext uri="{FF2B5EF4-FFF2-40B4-BE49-F238E27FC236}">
                <a16:creationId xmlns:a16="http://schemas.microsoft.com/office/drawing/2014/main" id="{C554891E-BB58-797B-D9AE-28A46A06992E}"/>
              </a:ext>
            </a:extLst>
          </p:cNvPr>
          <p:cNvSpPr/>
          <p:nvPr/>
        </p:nvSpPr>
        <p:spPr>
          <a:xfrm>
            <a:off x="3917540" y="2955611"/>
            <a:ext cx="114300" cy="114300"/>
          </a:xfrm>
          <a:prstGeom prst="ellipse">
            <a:avLst/>
          </a:prstGeom>
          <a:solidFill>
            <a:srgbClr val="0760A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C00F5796-46A0-D421-576B-90C0315A5B23}"/>
              </a:ext>
            </a:extLst>
          </p:cNvPr>
          <p:cNvSpPr txBox="1"/>
          <p:nvPr/>
        </p:nvSpPr>
        <p:spPr>
          <a:xfrm>
            <a:off x="2120490" y="1841500"/>
            <a:ext cx="1778000" cy="35560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0" rIns="0" bIns="0" rtlCol="0" anchor="t">
            <a:noAutofit/>
          </a:bodyPr>
          <a:lstStyle/>
          <a:p>
            <a:pPr algn="r">
              <a:lnSpc>
                <a:spcPct val="95000"/>
              </a:lnSpc>
            </a:pPr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época elegida: 21</a:t>
            </a:r>
            <a:endParaRPr lang="es-ES" sz="1000">
              <a:solidFill>
                <a:srgbClr val="6B7380"/>
              </a:solidFill>
              <a:latin typeface="Segoe UI" panose="020B0502040204020203" pitchFamily="34" charset="0"/>
            </a:endParaRPr>
          </a:p>
          <a:p>
            <a:pPr algn="r">
              <a:lnSpc>
                <a:spcPct val="95000"/>
              </a:lnSpc>
            </a:pPr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luego 10 sin mejorar: para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3CE3AB96-807F-94A0-0409-793BBFADD327}"/>
              </a:ext>
            </a:extLst>
          </p:cNvPr>
          <p:cNvSpPr txBox="1"/>
          <p:nvPr/>
        </p:nvSpPr>
        <p:spPr>
          <a:xfrm>
            <a:off x="4038190" y="2684629"/>
            <a:ext cx="1397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00">
                <a:solidFill>
                  <a:srgbClr val="16191F"/>
                </a:solidFill>
                <a:latin typeface="Segoe UI Semibold" panose="020B0702040204020203" pitchFamily="34" charset="0"/>
              </a:rPr>
              <a:t>diferencia 0,09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B761B420-EF19-C19F-EAC6-CFF1B7BB1757}"/>
              </a:ext>
            </a:extLst>
          </p:cNvPr>
          <p:cNvSpPr txBox="1"/>
          <p:nvPr/>
        </p:nvSpPr>
        <p:spPr>
          <a:xfrm>
            <a:off x="4419600" y="2207623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>
                <a:solidFill>
                  <a:srgbClr val="7A828E"/>
                </a:solidFill>
                <a:latin typeface="Segoe UI Semibold" panose="020B0702040204020203" pitchFamily="34" charset="0"/>
              </a:rPr>
              <a:t>entrenamiento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6869AF28-C64F-6B70-3F5C-CFA2D5A90E51}"/>
              </a:ext>
            </a:extLst>
          </p:cNvPr>
          <p:cNvSpPr txBox="1"/>
          <p:nvPr/>
        </p:nvSpPr>
        <p:spPr>
          <a:xfrm>
            <a:off x="4419600" y="3150412"/>
            <a:ext cx="1143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lang="es-ES" sz="1000">
                <a:solidFill>
                  <a:srgbClr val="0760AB"/>
                </a:solidFill>
                <a:latin typeface="Segoe UI Semibold" panose="020B0702040204020203" pitchFamily="34" charset="0"/>
              </a:rPr>
              <a:t>validación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A4DC3FFA-BF14-96A8-F82C-A18FC9897F6C}"/>
              </a:ext>
            </a:extLst>
          </p:cNvPr>
          <p:cNvSpPr txBox="1"/>
          <p:nvPr/>
        </p:nvSpPr>
        <p:spPr>
          <a:xfrm>
            <a:off x="609600" y="4140200"/>
            <a:ext cx="5130800" cy="558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Adam, tasa 3·10⁻⁵, lotes de 128, entropía cruzada; 5 folds × semillas 42, 1 y 2.</a:t>
            </a:r>
          </a:p>
          <a:p>
            <a:pPr>
              <a:lnSpc>
                <a:spcPct val="95000"/>
              </a:lnSpc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Parada: media móvil de 3 épocas, paciencia 10, máximo 60.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0232833B-0227-4DD4-BA4F-951B06A4867C}"/>
              </a:ext>
            </a:extLst>
          </p:cNvPr>
          <p:cNvSpPr/>
          <p:nvPr/>
        </p:nvSpPr>
        <p:spPr>
          <a:xfrm>
            <a:off x="609600" y="4775200"/>
            <a:ext cx="5130800" cy="1066800"/>
          </a:xfrm>
          <a:prstGeom prst="roundRect">
            <a:avLst>
              <a:gd name="adj" fmla="val 11905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9CA186B-F14D-79F7-556A-8931AECC7530}"/>
              </a:ext>
            </a:extLst>
          </p:cNvPr>
          <p:cNvSpPr txBox="1"/>
          <p:nvPr/>
        </p:nvSpPr>
        <p:spPr>
          <a:xfrm>
            <a:off x="787400" y="4775200"/>
            <a:ext cx="4775200" cy="1066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Sobreajuste controlado</a:t>
            </a:r>
            <a:endParaRPr lang="es-ES" sz="1050">
              <a:solidFill>
                <a:srgbClr val="3B4350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En la época elegida, entrenamiento − validación: 0,004 de media en los 15 modelos (solo 1 pasa del límite de 0,15). Descartadas por memorizar: tasa 3·10⁻⁴ y conv + conv (4 de 5 folds).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44594BCF-B42F-074E-20E9-2BAC6BD76CCB}"/>
              </a:ext>
            </a:extLst>
          </p:cNvPr>
          <p:cNvSpPr txBox="1"/>
          <p:nvPr/>
        </p:nvSpPr>
        <p:spPr>
          <a:xfrm>
            <a:off x="6096000" y="1422400"/>
            <a:ext cx="27432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6B7380"/>
                </a:solidFill>
                <a:latin typeface="Segoe UI" panose="020B0502040204020203" pitchFamily="34" charset="0"/>
              </a:rPr>
              <a:t>AUC de validación por fold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0E0B6802-787B-0E87-75DC-C91F570D091D}"/>
              </a:ext>
            </a:extLst>
          </p:cNvPr>
          <p:cNvSpPr txBox="1"/>
          <p:nvPr/>
        </p:nvSpPr>
        <p:spPr>
          <a:xfrm>
            <a:off x="6096000" y="1651000"/>
            <a:ext cx="2921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>
                <a:solidFill>
                  <a:srgbClr val="16191F"/>
                </a:solidFill>
                <a:latin typeface="Segoe UI Semibold" panose="020B0702040204020203" pitchFamily="34" charset="0"/>
              </a:rPr>
              <a:t>0,586 ± 0,020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9088E12-89B4-017D-8499-1E13DE20F8CD}"/>
              </a:ext>
            </a:extLst>
          </p:cNvPr>
          <p:cNvSpPr txBox="1"/>
          <p:nvPr/>
        </p:nvSpPr>
        <p:spPr>
          <a:xfrm>
            <a:off x="6096000" y="2209800"/>
            <a:ext cx="27432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de 0,558 a 0,605 en los 5 folds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CA0FE02E-A148-C385-EE65-049282881F29}"/>
              </a:ext>
            </a:extLst>
          </p:cNvPr>
          <p:cNvSpPr txBox="1"/>
          <p:nvPr/>
        </p:nvSpPr>
        <p:spPr>
          <a:xfrm>
            <a:off x="9245600" y="1422400"/>
            <a:ext cx="2336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150">
                <a:solidFill>
                  <a:srgbClr val="6B7380"/>
                </a:solidFill>
                <a:latin typeface="Segoe UI" panose="020B0502040204020203" pitchFamily="34" charset="0"/>
              </a:rPr>
              <a:t>Todas las pacientes juntas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33D47DC6-D8BC-3976-AFDE-ECBFE52E681D}"/>
              </a:ext>
            </a:extLst>
          </p:cNvPr>
          <p:cNvSpPr txBox="1"/>
          <p:nvPr/>
        </p:nvSpPr>
        <p:spPr>
          <a:xfrm>
            <a:off x="9245600" y="1651000"/>
            <a:ext cx="23368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3000">
                <a:solidFill>
                  <a:srgbClr val="16191F"/>
                </a:solidFill>
                <a:latin typeface="Segoe UI Semibold" panose="020B0702040204020203" pitchFamily="34" charset="0"/>
              </a:rPr>
              <a:t>0,573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C9807076-1A01-64C5-3C71-9900A121C50A}"/>
              </a:ext>
            </a:extLst>
          </p:cNvPr>
          <p:cNvSpPr txBox="1"/>
          <p:nvPr/>
        </p:nvSpPr>
        <p:spPr>
          <a:xfrm>
            <a:off x="9245600" y="2209800"/>
            <a:ext cx="23368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IC 95 %: 0,53-0,61 (azar: 0,5)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1ABA2402-526E-3A84-AE2E-CDCC905290FB}"/>
              </a:ext>
            </a:extLst>
          </p:cNvPr>
          <p:cNvSpPr/>
          <p:nvPr/>
        </p:nvSpPr>
        <p:spPr>
          <a:xfrm>
            <a:off x="6096000" y="2590800"/>
            <a:ext cx="5486400" cy="1473200"/>
          </a:xfrm>
          <a:prstGeom prst="roundRect">
            <a:avLst>
              <a:gd name="adj" fmla="val 8621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9F92E9A-3EC9-AA2B-C63F-AEE8BE946B96}"/>
              </a:ext>
            </a:extLst>
          </p:cNvPr>
          <p:cNvSpPr txBox="1"/>
          <p:nvPr/>
        </p:nvSpPr>
        <p:spPr>
          <a:xfrm>
            <a:off x="6273800" y="2692400"/>
            <a:ext cx="5130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Pérdida normal, no ponderada</a:t>
            </a: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   5 folds, umbral 0,5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41E26A5-AE61-3406-FC74-F781B729134D}"/>
              </a:ext>
            </a:extLst>
          </p:cNvPr>
          <p:cNvSpPr txBox="1"/>
          <p:nvPr/>
        </p:nvSpPr>
        <p:spPr>
          <a:xfrm>
            <a:off x="7620000" y="2997200"/>
            <a:ext cx="889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normal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2E8C6D0A-C756-E0D6-04B8-825BF3C57EC2}"/>
              </a:ext>
            </a:extLst>
          </p:cNvPr>
          <p:cNvSpPr txBox="1"/>
          <p:nvPr/>
        </p:nvSpPr>
        <p:spPr>
          <a:xfrm>
            <a:off x="8534400" y="2997200"/>
            <a:ext cx="1016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ponderada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AD48A2B-1F89-FB0E-404F-E255B4A44341}"/>
              </a:ext>
            </a:extLst>
          </p:cNvPr>
          <p:cNvSpPr txBox="1"/>
          <p:nvPr/>
        </p:nvSpPr>
        <p:spPr>
          <a:xfrm>
            <a:off x="6273800" y="3225800"/>
            <a:ext cx="1346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AUC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CE0491D5-F8C8-5884-F7E3-13819DF373EA}"/>
              </a:ext>
            </a:extLst>
          </p:cNvPr>
          <p:cNvSpPr txBox="1"/>
          <p:nvPr/>
        </p:nvSpPr>
        <p:spPr>
          <a:xfrm>
            <a:off x="7620000" y="3225800"/>
            <a:ext cx="88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0,567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DCA90223-8F18-31B7-EE7A-769136F58582}"/>
              </a:ext>
            </a:extLst>
          </p:cNvPr>
          <p:cNvSpPr txBox="1"/>
          <p:nvPr/>
        </p:nvSpPr>
        <p:spPr>
          <a:xfrm>
            <a:off x="8534400" y="3225800"/>
            <a:ext cx="1016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0,554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2022C51-CAA9-9096-911F-05F1B24EA232}"/>
              </a:ext>
            </a:extLst>
          </p:cNvPr>
          <p:cNvSpPr txBox="1"/>
          <p:nvPr/>
        </p:nvSpPr>
        <p:spPr>
          <a:xfrm>
            <a:off x="6273800" y="3467100"/>
            <a:ext cx="1346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Sensibilidad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3422B04-9C63-ABF2-82E7-BB27CAD874B6}"/>
              </a:ext>
            </a:extLst>
          </p:cNvPr>
          <p:cNvSpPr txBox="1"/>
          <p:nvPr/>
        </p:nvSpPr>
        <p:spPr>
          <a:xfrm>
            <a:off x="7620000" y="3467100"/>
            <a:ext cx="88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13 %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9F7F3DA-E51E-E18E-3351-541554C47D26}"/>
              </a:ext>
            </a:extLst>
          </p:cNvPr>
          <p:cNvSpPr txBox="1"/>
          <p:nvPr/>
        </p:nvSpPr>
        <p:spPr>
          <a:xfrm>
            <a:off x="8534400" y="3467100"/>
            <a:ext cx="1016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43 %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E9E390F4-5362-7741-B606-EC72BB3BED68}"/>
              </a:ext>
            </a:extLst>
          </p:cNvPr>
          <p:cNvSpPr txBox="1"/>
          <p:nvPr/>
        </p:nvSpPr>
        <p:spPr>
          <a:xfrm>
            <a:off x="6273800" y="3708400"/>
            <a:ext cx="13462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Especificidad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4E5B9E58-C623-AFC6-7A36-2D7E798BDAAA}"/>
              </a:ext>
            </a:extLst>
          </p:cNvPr>
          <p:cNvSpPr txBox="1"/>
          <p:nvPr/>
        </p:nvSpPr>
        <p:spPr>
          <a:xfrm>
            <a:off x="7620000" y="3708400"/>
            <a:ext cx="88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90 %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58B06F4C-1194-019B-6941-5D3C54986404}"/>
              </a:ext>
            </a:extLst>
          </p:cNvPr>
          <p:cNvSpPr txBox="1"/>
          <p:nvPr/>
        </p:nvSpPr>
        <p:spPr>
          <a:xfrm>
            <a:off x="8534400" y="3708400"/>
            <a:ext cx="1016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60 %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76A2AF7-8F18-2651-44A9-CD6C7CAE65A9}"/>
              </a:ext>
            </a:extLst>
          </p:cNvPr>
          <p:cNvSpPr txBox="1"/>
          <p:nvPr/>
        </p:nvSpPr>
        <p:spPr>
          <a:xfrm>
            <a:off x="9753600" y="2997200"/>
            <a:ext cx="1676400" cy="939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</a:pPr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Ordena igual: solo mueve el umbral, y el umbral se elige aparte.</a:t>
            </a:r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17A025E5-065D-8CAB-C08F-DDAAB3CCC2C7}"/>
              </a:ext>
            </a:extLst>
          </p:cNvPr>
          <p:cNvSpPr/>
          <p:nvPr/>
        </p:nvSpPr>
        <p:spPr>
          <a:xfrm>
            <a:off x="6096000" y="4216400"/>
            <a:ext cx="5486400" cy="1625600"/>
          </a:xfrm>
          <a:prstGeom prst="roundRect">
            <a:avLst>
              <a:gd name="adj" fmla="val 7813"/>
            </a:avLst>
          </a:prstGeom>
          <a:solidFill>
            <a:srgbClr val="E9F1F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F3CE384E-0E43-8D77-8EE1-D4CC85407063}"/>
              </a:ext>
            </a:extLst>
          </p:cNvPr>
          <p:cNvSpPr txBox="1"/>
          <p:nvPr/>
        </p:nvSpPr>
        <p:spPr>
          <a:xfrm>
            <a:off x="6299200" y="4216400"/>
            <a:ext cx="5080000" cy="162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s-ES" sz="1200">
                <a:solidFill>
                  <a:srgbClr val="0760AB"/>
                </a:solidFill>
                <a:latin typeface="Segoe UI Semibold" panose="020B0702040204020203" pitchFamily="34" charset="0"/>
              </a:rPr>
              <a:t>Umbral 0,316: máxima F1 equilibrada</a:t>
            </a:r>
            <a:endParaRPr lang="es-ES" sz="1100">
              <a:solidFill>
                <a:srgbClr val="16191F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300"/>
              </a:spcAft>
            </a:pPr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El error grave sería un falso positivo: quitar tratamiento a quien lo necesita. Evitarlo exige mucha precisión, y ni con especificidad 95 % pasa del 32 %: no sirve para desescalar, así que se equilibran los dos errores. En validación: sensibilidad 41 %, especificidad 70 %.</a:t>
            </a:r>
          </a:p>
        </p:txBody>
      </p:sp>
    </p:spTree>
    <p:extLst>
      <p:ext uri="{BB962C8B-B14F-4D97-AF65-F5344CB8AC3E}">
        <p14:creationId xmlns:p14="http://schemas.microsoft.com/office/powerpoint/2010/main" val="3077007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715C4D67-A9BD-9F02-B72D-B15D1C417F13}"/>
              </a:ext>
            </a:extLst>
          </p:cNvPr>
          <p:cNvSpPr/>
          <p:nvPr/>
        </p:nvSpPr>
        <p:spPr>
          <a:xfrm>
            <a:off x="609600" y="393700"/>
            <a:ext cx="279400" cy="279400"/>
          </a:xfrm>
          <a:prstGeom prst="ellipse">
            <a:avLst/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100">
                <a:solidFill>
                  <a:srgbClr val="FFFFFF"/>
                </a:solidFill>
                <a:latin typeface="Segoe UI Semibold" panose="020B0702040204020203" pitchFamily="34" charset="0"/>
              </a:rPr>
              <a:t>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707DD02-EF63-BB29-793A-741CEE31C855}"/>
              </a:ext>
            </a:extLst>
          </p:cNvPr>
          <p:cNvSpPr txBox="1"/>
          <p:nvPr/>
        </p:nvSpPr>
        <p:spPr>
          <a:xfrm>
            <a:off x="990600" y="393700"/>
            <a:ext cx="76200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200">
                <a:solidFill>
                  <a:srgbClr val="6B7380"/>
                </a:solidFill>
                <a:latin typeface="Segoe UI" panose="020B0502040204020203" pitchFamily="34" charset="0"/>
              </a:rPr>
              <a:t>Test, aplicación web, limitaciones y conclusiones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95FAD5-0FE1-B8F8-2508-9B25C38B3990}"/>
              </a:ext>
            </a:extLst>
          </p:cNvPr>
          <p:cNvSpPr txBox="1"/>
          <p:nvPr/>
        </p:nvSpPr>
        <p:spPr>
          <a:xfrm>
            <a:off x="609600" y="762000"/>
            <a:ext cx="10972800" cy="508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2600">
                <a:solidFill>
                  <a:srgbClr val="16191F"/>
                </a:solidFill>
                <a:latin typeface="Segoe UI Semibold" panose="020B0702040204020203" pitchFamily="34" charset="0"/>
              </a:rPr>
              <a:t>La imagen supera al azar, pero los datos clínicos predicen más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2EC97-F73C-0CAB-B1AE-7F955406AF9C}"/>
              </a:ext>
            </a:extLst>
          </p:cNvPr>
          <p:cNvSpPr txBox="1"/>
          <p:nvPr/>
        </p:nvSpPr>
        <p:spPr>
          <a:xfrm>
            <a:off x="609600" y="14224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Test: 176 pacientes, evaluado una sola vez</a:t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BA02BF9E-4CAA-C65C-6D1A-9EDBCB4DAC85}"/>
              </a:ext>
            </a:extLst>
          </p:cNvPr>
          <p:cNvCxnSpPr/>
          <p:nvPr/>
        </p:nvCxnSpPr>
        <p:spPr>
          <a:xfrm>
            <a:off x="2717800" y="1727200"/>
            <a:ext cx="0" cy="111760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E8A86D2-1088-37D4-F94F-45EBB30B0E6C}"/>
              </a:ext>
            </a:extLst>
          </p:cNvPr>
          <p:cNvSpPr txBox="1"/>
          <p:nvPr/>
        </p:nvSpPr>
        <p:spPr>
          <a:xfrm>
            <a:off x="2336800" y="2870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0,4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D74848D0-CD7C-3FE9-6783-4AC224E8159D}"/>
              </a:ext>
            </a:extLst>
          </p:cNvPr>
          <p:cNvCxnSpPr/>
          <p:nvPr/>
        </p:nvCxnSpPr>
        <p:spPr>
          <a:xfrm>
            <a:off x="3530600" y="1727200"/>
            <a:ext cx="0" cy="1117600"/>
          </a:xfrm>
          <a:prstGeom prst="line">
            <a:avLst/>
          </a:prstGeom>
          <a:ln w="9525" cap="rnd">
            <a:solidFill>
              <a:srgbClr val="6B738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90B2B18-1912-FDD1-315C-7CFD9BA91DA6}"/>
              </a:ext>
            </a:extLst>
          </p:cNvPr>
          <p:cNvSpPr txBox="1"/>
          <p:nvPr/>
        </p:nvSpPr>
        <p:spPr>
          <a:xfrm>
            <a:off x="3149600" y="2870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0,5 (azar)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5FA501F7-6D80-5507-0C84-51D1A7C16273}"/>
              </a:ext>
            </a:extLst>
          </p:cNvPr>
          <p:cNvCxnSpPr/>
          <p:nvPr/>
        </p:nvCxnSpPr>
        <p:spPr>
          <a:xfrm>
            <a:off x="4343400" y="1727200"/>
            <a:ext cx="0" cy="111760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94E8437-5C2B-46F4-2AAD-8523A0FBF630}"/>
              </a:ext>
            </a:extLst>
          </p:cNvPr>
          <p:cNvSpPr txBox="1"/>
          <p:nvPr/>
        </p:nvSpPr>
        <p:spPr>
          <a:xfrm>
            <a:off x="3962400" y="2870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0,6</a:t>
            </a:r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61F45F2D-18AE-BCC6-D91C-47A47795313C}"/>
              </a:ext>
            </a:extLst>
          </p:cNvPr>
          <p:cNvCxnSpPr/>
          <p:nvPr/>
        </p:nvCxnSpPr>
        <p:spPr>
          <a:xfrm>
            <a:off x="5156200" y="1727200"/>
            <a:ext cx="0" cy="111760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D804533-9ED8-B162-0FE8-6CFAC2D13369}"/>
              </a:ext>
            </a:extLst>
          </p:cNvPr>
          <p:cNvSpPr txBox="1"/>
          <p:nvPr/>
        </p:nvSpPr>
        <p:spPr>
          <a:xfrm>
            <a:off x="4775200" y="2870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0,7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A1CE9F51-5BC9-11D5-0176-297C1C769994}"/>
              </a:ext>
            </a:extLst>
          </p:cNvPr>
          <p:cNvCxnSpPr/>
          <p:nvPr/>
        </p:nvCxnSpPr>
        <p:spPr>
          <a:xfrm>
            <a:off x="5969000" y="1727200"/>
            <a:ext cx="0" cy="1117600"/>
          </a:xfrm>
          <a:prstGeom prst="line">
            <a:avLst/>
          </a:prstGeom>
          <a:ln w="9525">
            <a:solidFill>
              <a:srgbClr val="E3E7EC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F794385-C076-C775-8B53-1B8473CA5F5D}"/>
              </a:ext>
            </a:extLst>
          </p:cNvPr>
          <p:cNvSpPr txBox="1"/>
          <p:nvPr/>
        </p:nvSpPr>
        <p:spPr>
          <a:xfrm>
            <a:off x="5588000" y="2870200"/>
            <a:ext cx="7620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0,8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C147C70-A27A-F70C-E85A-47C4E0C7AB9E}"/>
              </a:ext>
            </a:extLst>
          </p:cNvPr>
          <p:cNvSpPr txBox="1"/>
          <p:nvPr/>
        </p:nvSpPr>
        <p:spPr>
          <a:xfrm>
            <a:off x="609600" y="1752600"/>
            <a:ext cx="1498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Fridman et al. 2025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58B4BA8-E48B-9C76-52DF-9210FC9477AC}"/>
              </a:ext>
            </a:extLst>
          </p:cNvPr>
          <p:cNvSpPr txBox="1"/>
          <p:nvPr/>
        </p:nvSpPr>
        <p:spPr>
          <a:xfrm>
            <a:off x="2108200" y="17526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0,72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BE593740-FB65-4F16-00D8-81EC19929E4B}"/>
              </a:ext>
            </a:extLst>
          </p:cNvPr>
          <p:cNvSpPr/>
          <p:nvPr/>
        </p:nvSpPr>
        <p:spPr>
          <a:xfrm>
            <a:off x="5261610" y="1797050"/>
            <a:ext cx="114300" cy="1143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4B556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52F4C81-B06C-786F-0E7D-F283AB349BB8}"/>
              </a:ext>
            </a:extLst>
          </p:cNvPr>
          <p:cNvSpPr txBox="1"/>
          <p:nvPr/>
        </p:nvSpPr>
        <p:spPr>
          <a:xfrm>
            <a:off x="609600" y="2019300"/>
            <a:ext cx="1498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Imagen + clínicos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849B7524-244D-EE05-F2C0-845846FE23EB}"/>
              </a:ext>
            </a:extLst>
          </p:cNvPr>
          <p:cNvSpPr txBox="1"/>
          <p:nvPr/>
        </p:nvSpPr>
        <p:spPr>
          <a:xfrm>
            <a:off x="2108200" y="20193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0,705</a:t>
            </a: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1A0E693-9463-0091-51A7-5449ED32BC42}"/>
              </a:ext>
            </a:extLst>
          </p:cNvPr>
          <p:cNvCxnSpPr/>
          <p:nvPr/>
        </p:nvCxnSpPr>
        <p:spPr>
          <a:xfrm>
            <a:off x="4489704" y="2120900"/>
            <a:ext cx="1357376" cy="0"/>
          </a:xfrm>
          <a:prstGeom prst="line">
            <a:avLst/>
          </a:prstGeom>
          <a:ln w="19050">
            <a:solidFill>
              <a:srgbClr val="8A93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Elipse 21">
            <a:extLst>
              <a:ext uri="{FF2B5EF4-FFF2-40B4-BE49-F238E27FC236}">
                <a16:creationId xmlns:a16="http://schemas.microsoft.com/office/drawing/2014/main" id="{A6A4C4B0-9344-9CCC-F8CF-0155CB9577DE}"/>
              </a:ext>
            </a:extLst>
          </p:cNvPr>
          <p:cNvSpPr/>
          <p:nvPr/>
        </p:nvSpPr>
        <p:spPr>
          <a:xfrm>
            <a:off x="5139690" y="2063750"/>
            <a:ext cx="114300" cy="114300"/>
          </a:xfrm>
          <a:prstGeom prst="ellipse">
            <a:avLst/>
          </a:prstGeom>
          <a:solidFill>
            <a:srgbClr val="8A93A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3D06815-BFC2-5264-78BF-6A972E35A037}"/>
              </a:ext>
            </a:extLst>
          </p:cNvPr>
          <p:cNvSpPr txBox="1"/>
          <p:nvPr/>
        </p:nvSpPr>
        <p:spPr>
          <a:xfrm>
            <a:off x="609600" y="2286000"/>
            <a:ext cx="1498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Solo clínicos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E3D1855-2D62-1726-28E7-28951106CE09}"/>
              </a:ext>
            </a:extLst>
          </p:cNvPr>
          <p:cNvSpPr txBox="1"/>
          <p:nvPr/>
        </p:nvSpPr>
        <p:spPr>
          <a:xfrm>
            <a:off x="2108200" y="22860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0,695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87912A4D-B0A7-AD90-DC79-CDA88A013B5A}"/>
              </a:ext>
            </a:extLst>
          </p:cNvPr>
          <p:cNvCxnSpPr/>
          <p:nvPr/>
        </p:nvCxnSpPr>
        <p:spPr>
          <a:xfrm>
            <a:off x="4367784" y="2387600"/>
            <a:ext cx="1422400" cy="0"/>
          </a:xfrm>
          <a:prstGeom prst="line">
            <a:avLst/>
          </a:prstGeom>
          <a:ln w="19050">
            <a:solidFill>
              <a:srgbClr val="8A93A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A5BB2BE2-92CB-D6AE-7F3B-0FCAB5B1991A}"/>
              </a:ext>
            </a:extLst>
          </p:cNvPr>
          <p:cNvSpPr/>
          <p:nvPr/>
        </p:nvSpPr>
        <p:spPr>
          <a:xfrm>
            <a:off x="5058410" y="2330450"/>
            <a:ext cx="114300" cy="114300"/>
          </a:xfrm>
          <a:prstGeom prst="ellipse">
            <a:avLst/>
          </a:prstGeom>
          <a:solidFill>
            <a:srgbClr val="8A93A0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F3ED77D-DB27-94D4-CD40-039216F14374}"/>
              </a:ext>
            </a:extLst>
          </p:cNvPr>
          <p:cNvSpPr txBox="1"/>
          <p:nvPr/>
        </p:nvSpPr>
        <p:spPr>
          <a:xfrm>
            <a:off x="609600" y="2552700"/>
            <a:ext cx="1498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050">
                <a:solidFill>
                  <a:srgbClr val="0760AB"/>
                </a:solidFill>
                <a:latin typeface="Segoe UI Semibold" panose="020B0702040204020203" pitchFamily="34" charset="0"/>
              </a:rPr>
              <a:t>CNN, solo imagen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D07D5160-3747-C735-E59E-4CF2A357EE7B}"/>
              </a:ext>
            </a:extLst>
          </p:cNvPr>
          <p:cNvSpPr txBox="1"/>
          <p:nvPr/>
        </p:nvSpPr>
        <p:spPr>
          <a:xfrm>
            <a:off x="2108200" y="2552700"/>
            <a:ext cx="50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100">
                <a:solidFill>
                  <a:srgbClr val="0760AB"/>
                </a:solidFill>
                <a:latin typeface="Segoe UI Semibold" panose="020B0702040204020203" pitchFamily="34" charset="0"/>
              </a:rPr>
              <a:t>0,591</a:t>
            </a:r>
          </a:p>
        </p:txBody>
      </p: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5E80838-ACCE-8DB3-5CC9-F480E6C26AD1}"/>
              </a:ext>
            </a:extLst>
          </p:cNvPr>
          <p:cNvCxnSpPr/>
          <p:nvPr/>
        </p:nvCxnSpPr>
        <p:spPr>
          <a:xfrm>
            <a:off x="3506216" y="2654300"/>
            <a:ext cx="1495552" cy="0"/>
          </a:xfrm>
          <a:prstGeom prst="line">
            <a:avLst/>
          </a:prstGeom>
          <a:ln w="19050">
            <a:solidFill>
              <a:srgbClr val="0760AB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lipse 29">
            <a:extLst>
              <a:ext uri="{FF2B5EF4-FFF2-40B4-BE49-F238E27FC236}">
                <a16:creationId xmlns:a16="http://schemas.microsoft.com/office/drawing/2014/main" id="{870572B7-601A-995E-3070-CEB8FAFCA0E9}"/>
              </a:ext>
            </a:extLst>
          </p:cNvPr>
          <p:cNvSpPr/>
          <p:nvPr/>
        </p:nvSpPr>
        <p:spPr>
          <a:xfrm>
            <a:off x="4213098" y="2597150"/>
            <a:ext cx="114300" cy="114300"/>
          </a:xfrm>
          <a:prstGeom prst="ellipse">
            <a:avLst/>
          </a:prstGeom>
          <a:solidFill>
            <a:srgbClr val="0760AB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0363CB5-04C4-0F6D-B9A0-52A9003FE866}"/>
              </a:ext>
            </a:extLst>
          </p:cNvPr>
          <p:cNvSpPr txBox="1"/>
          <p:nvPr/>
        </p:nvSpPr>
        <p:spPr>
          <a:xfrm>
            <a:off x="609600" y="3098800"/>
            <a:ext cx="5588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AUC con su IC 95 %. En validación la CNN dio 0,573: el test no bajó.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0893B3A-622C-EC43-33A4-9552E67667CD}"/>
              </a:ext>
            </a:extLst>
          </p:cNvPr>
          <p:cNvSpPr txBox="1"/>
          <p:nvPr/>
        </p:nvSpPr>
        <p:spPr>
          <a:xfrm>
            <a:off x="1219200" y="3378200"/>
            <a:ext cx="73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pred. no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7A41A0DC-4070-06EB-2C64-806782E7A384}"/>
              </a:ext>
            </a:extLst>
          </p:cNvPr>
          <p:cNvSpPr txBox="1"/>
          <p:nvPr/>
        </p:nvSpPr>
        <p:spPr>
          <a:xfrm>
            <a:off x="1981200" y="3378200"/>
            <a:ext cx="73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pred. pCR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AD3CCA9-822A-ADBA-5A6F-6159CC72CA0C}"/>
              </a:ext>
            </a:extLst>
          </p:cNvPr>
          <p:cNvSpPr txBox="1"/>
          <p:nvPr/>
        </p:nvSpPr>
        <p:spPr>
          <a:xfrm>
            <a:off x="508000" y="3581400"/>
            <a:ext cx="66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real no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79EC43D-A3E3-05CF-7DD8-0BE20CB2F6CA}"/>
              </a:ext>
            </a:extLst>
          </p:cNvPr>
          <p:cNvSpPr txBox="1"/>
          <p:nvPr/>
        </p:nvSpPr>
        <p:spPr>
          <a:xfrm>
            <a:off x="508000" y="3987800"/>
            <a:ext cx="6604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real pCR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6FD4C739-2C67-F8DA-B4C0-00D5F7453D75}"/>
              </a:ext>
            </a:extLst>
          </p:cNvPr>
          <p:cNvSpPr/>
          <p:nvPr/>
        </p:nvSpPr>
        <p:spPr>
          <a:xfrm>
            <a:off x="1244600" y="3581400"/>
            <a:ext cx="685800" cy="368300"/>
          </a:xfrm>
          <a:prstGeom prst="roundRect">
            <a:avLst>
              <a:gd name="adj" fmla="val 13793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500">
                <a:solidFill>
                  <a:srgbClr val="FFFFFF"/>
                </a:solidFill>
                <a:latin typeface="Segoe UI Semibold" panose="020B0702040204020203" pitchFamily="34" charset="0"/>
              </a:rPr>
              <a:t>93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A80203C6-E7A8-582B-8EE8-9C45397DDA1C}"/>
              </a:ext>
            </a:extLst>
          </p:cNvPr>
          <p:cNvSpPr/>
          <p:nvPr/>
        </p:nvSpPr>
        <p:spPr>
          <a:xfrm>
            <a:off x="2006600" y="3581400"/>
            <a:ext cx="685800" cy="368300"/>
          </a:xfrm>
          <a:prstGeom prst="roundRect">
            <a:avLst>
              <a:gd name="adj" fmla="val 13793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500">
                <a:solidFill>
                  <a:srgbClr val="16191F"/>
                </a:solidFill>
                <a:latin typeface="Segoe UI Semibold" panose="020B0702040204020203" pitchFamily="34" charset="0"/>
              </a:rPr>
              <a:t>30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E714E264-98B9-4F28-CD08-7F40A23BEC6D}"/>
              </a:ext>
            </a:extLst>
          </p:cNvPr>
          <p:cNvSpPr/>
          <p:nvPr/>
        </p:nvSpPr>
        <p:spPr>
          <a:xfrm>
            <a:off x="1244600" y="3987800"/>
            <a:ext cx="685800" cy="368300"/>
          </a:xfrm>
          <a:prstGeom prst="roundRect">
            <a:avLst>
              <a:gd name="adj" fmla="val 13793"/>
            </a:avLst>
          </a:prstGeom>
          <a:solidFill>
            <a:srgbClr val="F2F4F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500">
                <a:solidFill>
                  <a:srgbClr val="16191F"/>
                </a:solidFill>
                <a:latin typeface="Segoe UI Semibold" panose="020B0702040204020203" pitchFamily="34" charset="0"/>
              </a:rPr>
              <a:t>37</a:t>
            </a: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02437DD2-CA75-6ED6-9B4B-C5DF0FF8B797}"/>
              </a:ext>
            </a:extLst>
          </p:cNvPr>
          <p:cNvSpPr/>
          <p:nvPr/>
        </p:nvSpPr>
        <p:spPr>
          <a:xfrm>
            <a:off x="2006600" y="3987800"/>
            <a:ext cx="685800" cy="368300"/>
          </a:xfrm>
          <a:prstGeom prst="roundRect">
            <a:avLst>
              <a:gd name="adj" fmla="val 13793"/>
            </a:avLst>
          </a:prstGeom>
          <a:solidFill>
            <a:srgbClr val="0760A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s-ES" sz="1500">
                <a:solidFill>
                  <a:srgbClr val="FFFFFF"/>
                </a:solidFill>
                <a:latin typeface="Segoe UI Semibold" panose="020B0702040204020203" pitchFamily="34" charset="0"/>
              </a:rPr>
              <a:t>16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3DB92D6C-3618-1A14-0B38-58F00A333857}"/>
              </a:ext>
            </a:extLst>
          </p:cNvPr>
          <p:cNvSpPr txBox="1"/>
          <p:nvPr/>
        </p:nvSpPr>
        <p:spPr>
          <a:xfrm>
            <a:off x="4292600" y="3378200"/>
            <a:ext cx="660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precisión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3E40953C-18B0-1E0F-A4A4-76815DBBD3A0}"/>
              </a:ext>
            </a:extLst>
          </p:cNvPr>
          <p:cNvSpPr txBox="1"/>
          <p:nvPr/>
        </p:nvSpPr>
        <p:spPr>
          <a:xfrm>
            <a:off x="4978400" y="3378200"/>
            <a:ext cx="660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recall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2DD3244A-7658-FCC5-68D8-07601C1E4A62}"/>
              </a:ext>
            </a:extLst>
          </p:cNvPr>
          <p:cNvSpPr txBox="1"/>
          <p:nvPr/>
        </p:nvSpPr>
        <p:spPr>
          <a:xfrm>
            <a:off x="5588000" y="3378200"/>
            <a:ext cx="6604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es-ES" sz="1000">
                <a:solidFill>
                  <a:srgbClr val="6B7380"/>
                </a:solidFill>
                <a:latin typeface="Segoe UI" panose="020B0502040204020203" pitchFamily="34" charset="0"/>
              </a:rPr>
              <a:t>F1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B24D042B-782C-A2D8-5B38-7A3EA36CD02A}"/>
              </a:ext>
            </a:extLst>
          </p:cNvPr>
          <p:cNvSpPr txBox="1"/>
          <p:nvPr/>
        </p:nvSpPr>
        <p:spPr>
          <a:xfrm>
            <a:off x="2921000" y="3581400"/>
            <a:ext cx="1371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pCR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3CED1A66-C096-2899-FB61-35C6F2585BF5}"/>
              </a:ext>
            </a:extLst>
          </p:cNvPr>
          <p:cNvSpPr txBox="1"/>
          <p:nvPr/>
        </p:nvSpPr>
        <p:spPr>
          <a:xfrm>
            <a:off x="4292600" y="35814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0,35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ED1E2D7-B2D8-30AD-C5B2-C8F3491BCB93}"/>
              </a:ext>
            </a:extLst>
          </p:cNvPr>
          <p:cNvSpPr txBox="1"/>
          <p:nvPr/>
        </p:nvSpPr>
        <p:spPr>
          <a:xfrm>
            <a:off x="4978400" y="35814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0,30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02331F1-ABA4-2431-9C6C-7987FB69401B}"/>
              </a:ext>
            </a:extLst>
          </p:cNvPr>
          <p:cNvSpPr txBox="1"/>
          <p:nvPr/>
        </p:nvSpPr>
        <p:spPr>
          <a:xfrm>
            <a:off x="5588000" y="35814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0,32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3D33C69-ABD7-4122-26B8-CAA5674C44D7}"/>
              </a:ext>
            </a:extLst>
          </p:cNvPr>
          <p:cNvSpPr txBox="1"/>
          <p:nvPr/>
        </p:nvSpPr>
        <p:spPr>
          <a:xfrm>
            <a:off x="2921000" y="3784600"/>
            <a:ext cx="1371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no pCR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B2E4E59C-B21E-E966-EC19-EBF196FF69B5}"/>
              </a:ext>
            </a:extLst>
          </p:cNvPr>
          <p:cNvSpPr txBox="1"/>
          <p:nvPr/>
        </p:nvSpPr>
        <p:spPr>
          <a:xfrm>
            <a:off x="4292600" y="37846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0,72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F77A6468-8ED4-66D9-9365-F630040178A2}"/>
              </a:ext>
            </a:extLst>
          </p:cNvPr>
          <p:cNvSpPr txBox="1"/>
          <p:nvPr/>
        </p:nvSpPr>
        <p:spPr>
          <a:xfrm>
            <a:off x="4978400" y="37846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0,76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973A57A2-6A67-DF2E-16FB-BF4ABD026B8F}"/>
              </a:ext>
            </a:extLst>
          </p:cNvPr>
          <p:cNvSpPr txBox="1"/>
          <p:nvPr/>
        </p:nvSpPr>
        <p:spPr>
          <a:xfrm>
            <a:off x="5588000" y="37846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" panose="020B0502040204020203" pitchFamily="34" charset="0"/>
              </a:rPr>
              <a:t>0,74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AC12AC3-C464-9452-EF6A-BA1736116BBB}"/>
              </a:ext>
            </a:extLst>
          </p:cNvPr>
          <p:cNvSpPr txBox="1"/>
          <p:nvPr/>
        </p:nvSpPr>
        <p:spPr>
          <a:xfrm>
            <a:off x="2921000" y="3987800"/>
            <a:ext cx="1371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media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05C32240-77D1-090B-9341-8FA120BC6BF0}"/>
              </a:ext>
            </a:extLst>
          </p:cNvPr>
          <p:cNvSpPr txBox="1"/>
          <p:nvPr/>
        </p:nvSpPr>
        <p:spPr>
          <a:xfrm>
            <a:off x="4292600" y="39878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0,53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3A36301-03A4-56B7-32D2-0D0FC43EF668}"/>
              </a:ext>
            </a:extLst>
          </p:cNvPr>
          <p:cNvSpPr txBox="1"/>
          <p:nvPr/>
        </p:nvSpPr>
        <p:spPr>
          <a:xfrm>
            <a:off x="4978400" y="39878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0,53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B2773BBC-CAFF-B9A5-C5A2-721EABBA9BDE}"/>
              </a:ext>
            </a:extLst>
          </p:cNvPr>
          <p:cNvSpPr txBox="1"/>
          <p:nvPr/>
        </p:nvSpPr>
        <p:spPr>
          <a:xfrm>
            <a:off x="5588000" y="39878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16191F"/>
                </a:solidFill>
                <a:latin typeface="Segoe UI Semibold" panose="020B0702040204020203" pitchFamily="34" charset="0"/>
              </a:rPr>
              <a:t>0,53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ECD9D5D5-9757-C20C-65D6-38577A1D0955}"/>
              </a:ext>
            </a:extLst>
          </p:cNvPr>
          <p:cNvSpPr txBox="1"/>
          <p:nvPr/>
        </p:nvSpPr>
        <p:spPr>
          <a:xfrm>
            <a:off x="2921000" y="4191000"/>
            <a:ext cx="1371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siempre «no pCR»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FF26EC6-2D67-A125-6B88-F676CA1421A4}"/>
              </a:ext>
            </a:extLst>
          </p:cNvPr>
          <p:cNvSpPr txBox="1"/>
          <p:nvPr/>
        </p:nvSpPr>
        <p:spPr>
          <a:xfrm>
            <a:off x="4292600" y="41910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0,35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631CDA1-9A74-1F58-B085-FF4DA996C926}"/>
              </a:ext>
            </a:extLst>
          </p:cNvPr>
          <p:cNvSpPr txBox="1"/>
          <p:nvPr/>
        </p:nvSpPr>
        <p:spPr>
          <a:xfrm>
            <a:off x="4978400" y="41910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0,50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DC799BF2-1534-6EA5-D48C-B3C73D28501F}"/>
              </a:ext>
            </a:extLst>
          </p:cNvPr>
          <p:cNvSpPr txBox="1"/>
          <p:nvPr/>
        </p:nvSpPr>
        <p:spPr>
          <a:xfrm>
            <a:off x="5588000" y="4191000"/>
            <a:ext cx="6604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s-ES" sz="1100">
                <a:solidFill>
                  <a:srgbClr val="6B7380"/>
                </a:solidFill>
                <a:latin typeface="Segoe UI" panose="020B0502040204020203" pitchFamily="34" charset="0"/>
              </a:rPr>
              <a:t>0,41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F8984738-E6F1-8BDC-92E7-BBEDB66FC3AB}"/>
              </a:ext>
            </a:extLst>
          </p:cNvPr>
          <p:cNvSpPr txBox="1"/>
          <p:nvPr/>
        </p:nvSpPr>
        <p:spPr>
          <a:xfrm>
            <a:off x="609600" y="4495800"/>
            <a:ext cx="55880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Por cohorte: Duke 0,73, I-SPY2 0,63, I-SPY1 0,29. Calibrada: Brier 0,208 (referencia 0,211).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0713FAA-0D53-CFF0-5D13-47D286D30DB9}"/>
              </a:ext>
            </a:extLst>
          </p:cNvPr>
          <p:cNvSpPr txBox="1"/>
          <p:nvPr/>
        </p:nvSpPr>
        <p:spPr>
          <a:xfrm>
            <a:off x="609600" y="5003800"/>
            <a:ext cx="5588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s-ES" sz="1200">
                <a:solidFill>
                  <a:srgbClr val="16191F"/>
                </a:solidFill>
                <a:latin typeface="Segoe UI Semibold" panose="020B0702040204020203" pitchFamily="34" charset="0"/>
              </a:rPr>
              <a:t>Limitaciones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F441E70-8C6B-ACD7-84E6-2DA3A80503A9}"/>
              </a:ext>
            </a:extLst>
          </p:cNvPr>
          <p:cNvSpPr txBox="1"/>
          <p:nvPr/>
        </p:nvSpPr>
        <p:spPr>
          <a:xfrm>
            <a:off x="609600" y="5257800"/>
            <a:ext cx="5588000" cy="889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152400" indent="-152400">
              <a:lnSpc>
                <a:spcPct val="95000"/>
              </a:lnSpc>
              <a:spcAft>
                <a:spcPts val="200"/>
              </a:spcAft>
              <a:buClr>
                <a:srgbClr val="0760AB"/>
              </a:buClr>
              <a:buFont typeface="+mj-lt"/>
              <a:buChar char="•"/>
            </a:pPr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Señal débil: con 176 pacientes, el intervalo roza el 0,5.</a:t>
            </a: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Clr>
                <a:srgbClr val="0760AB"/>
              </a:buClr>
              <a:buFont typeface="+mj-lt"/>
              <a:buChar char="•"/>
            </a:pPr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Un solo corte 2D: se pierde la forma del tumor.</a:t>
            </a: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Clr>
                <a:srgbClr val="0760AB"/>
              </a:buClr>
              <a:buFont typeface="+mj-lt"/>
              <a:buChar char="•"/>
            </a:pPr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Sensible al brillo y al escáner: I-SPY1 ordena al revés.</a:t>
            </a:r>
          </a:p>
          <a:p>
            <a:pPr marL="152400" indent="-152400">
              <a:lnSpc>
                <a:spcPct val="95000"/>
              </a:lnSpc>
              <a:spcAft>
                <a:spcPts val="200"/>
              </a:spcAft>
              <a:buClr>
                <a:srgbClr val="0760AB"/>
              </a:buClr>
              <a:buFont typeface="+mj-lt"/>
              <a:buChar char="•"/>
            </a:pPr>
            <a:r>
              <a:rPr lang="es-ES" sz="1100">
                <a:solidFill>
                  <a:srgbClr val="3B4350"/>
                </a:solidFill>
                <a:latin typeface="Segoe UI" panose="020B0502040204020203" pitchFamily="34" charset="0"/>
              </a:rPr>
              <a:t>Detecta 3 de cada 10 pCR: no sirve para decidir un tratamiento.</a:t>
            </a:r>
          </a:p>
        </p:txBody>
      </p:sp>
      <p:pic>
        <p:nvPicPr>
          <p:cNvPr id="63" name="Imagen 62">
            <a:extLst>
              <a:ext uri="{FF2B5EF4-FFF2-40B4-BE49-F238E27FC236}">
                <a16:creationId xmlns:a16="http://schemas.microsoft.com/office/drawing/2014/main" id="{5D7E00D2-CA24-715B-D25F-11AFF77C0F8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502400" y="1422400"/>
            <a:ext cx="5080000" cy="3175000"/>
          </a:xfrm>
          <a:prstGeom prst="roundRect">
            <a:avLst>
              <a:gd name="adj" fmla="val 3200"/>
            </a:avLst>
          </a:prstGeom>
          <a:ln w="9525">
            <a:solidFill>
              <a:srgbClr val="D5DBE3"/>
            </a:solidFill>
          </a:ln>
        </p:spPr>
      </p:pic>
      <p:sp>
        <p:nvSpPr>
          <p:cNvPr id="64" name="CuadroTexto 63">
            <a:extLst>
              <a:ext uri="{FF2B5EF4-FFF2-40B4-BE49-F238E27FC236}">
                <a16:creationId xmlns:a16="http://schemas.microsoft.com/office/drawing/2014/main" id="{7C6AE799-309B-9405-5225-25FEBC927D57}"/>
              </a:ext>
            </a:extLst>
          </p:cNvPr>
          <p:cNvSpPr txBox="1"/>
          <p:nvPr/>
        </p:nvSpPr>
        <p:spPr>
          <a:xfrm>
            <a:off x="6502400" y="4648200"/>
            <a:ext cx="5080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</a:pPr>
            <a:r>
              <a:rPr lang="es-ES" sz="1050">
                <a:solidFill>
                  <a:srgbClr val="6B7380"/>
                </a:solidFill>
                <a:latin typeface="Segoe UI" panose="020B0502040204020203" pitchFamily="34" charset="0"/>
              </a:rPr>
              <a:t>Caso fallado: ISPY1_1155 alcanzó la pCR y el modelo le da 0,313, a 0,003 del umbral. La app avisa de que la decisión es ajustada.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8D618C6-F002-8309-3C90-C9B1E9416B77}"/>
              </a:ext>
            </a:extLst>
          </p:cNvPr>
          <p:cNvSpPr txBox="1"/>
          <p:nvPr/>
        </p:nvSpPr>
        <p:spPr>
          <a:xfrm>
            <a:off x="6502400" y="5080000"/>
            <a:ext cx="5080000" cy="787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150">
                <a:solidFill>
                  <a:srgbClr val="0760AB"/>
                </a:solidFill>
                <a:latin typeface="Segoe UI Semibold" panose="020B07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pablojimenezgirardeau.github.io/Caso-Cancer-de-mama</a:t>
            </a:r>
            <a:endParaRPr lang="es-ES" sz="1050">
              <a:solidFill>
                <a:srgbClr val="0760AB"/>
              </a:solidFill>
              <a:latin typeface="Segoe UI" panose="020B0502040204020203" pitchFamily="34" charset="0"/>
            </a:endParaRPr>
          </a:p>
          <a:p>
            <a:pPr>
              <a:lnSpc>
                <a:spcPct val="95000"/>
              </a:lnSpc>
              <a:spcAft>
                <a:spcPts val="200"/>
              </a:spcAft>
            </a:pPr>
            <a:r>
              <a:rPr lang="es-ES" sz="1050">
                <a:solidFill>
                  <a:srgbClr val="3B4350"/>
                </a:solidFill>
                <a:latin typeface="Segoe UI" panose="020B0502040204020203" pitchFamily="34" charset="0"/>
              </a:rPr>
              <a:t>Misma lectura y normalización que Python (PNG → gris → ÷ 255, recorte dentro de la red): diferencia máxima 5·10⁻⁸. Uso educativo, sin validez clínica.</a:t>
            </a:r>
          </a:p>
        </p:txBody>
      </p:sp>
    </p:spTree>
    <p:extLst>
      <p:ext uri="{BB962C8B-B14F-4D97-AF65-F5344CB8AC3E}">
        <p14:creationId xmlns:p14="http://schemas.microsoft.com/office/powerpoint/2010/main" val="1656237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8">
            <a:extLst>
              <a:ext uri="{FF2B5EF4-FFF2-40B4-BE49-F238E27FC236}">
                <a16:creationId xmlns:a16="http://schemas.microsoft.com/office/drawing/2014/main" id="{49E18F14-67C1-03FD-1B54-7C091E7B083A}"/>
              </a:ext>
            </a:extLst>
          </p:cNvPr>
          <p:cNvSpPr/>
          <p:nvPr/>
        </p:nvSpPr>
        <p:spPr>
          <a:xfrm>
            <a:off x="0" y="-43543"/>
            <a:ext cx="12192000" cy="6901544"/>
          </a:xfrm>
          <a:custGeom>
            <a:avLst/>
            <a:gdLst/>
            <a:ahLst/>
            <a:cxnLst/>
            <a:rect l="l" t="t" r="r" b="b"/>
            <a:pathLst>
              <a:path w="7616190" h="7560309">
                <a:moveTo>
                  <a:pt x="7615643" y="0"/>
                </a:moveTo>
                <a:lnTo>
                  <a:pt x="0" y="0"/>
                </a:lnTo>
                <a:lnTo>
                  <a:pt x="0" y="7559992"/>
                </a:lnTo>
                <a:lnTo>
                  <a:pt x="3689819" y="7559992"/>
                </a:lnTo>
                <a:lnTo>
                  <a:pt x="7615643" y="0"/>
                </a:lnTo>
                <a:close/>
              </a:path>
            </a:pathLst>
          </a:custGeom>
          <a:solidFill>
            <a:srgbClr val="0060AB"/>
          </a:solidFill>
        </p:spPr>
        <p:txBody>
          <a:bodyPr wrap="square" lIns="0" tIns="0" rIns="0" bIns="0" rtlCol="0"/>
          <a:lstStyle/>
          <a:p>
            <a:endParaRPr dirty="0">
              <a:latin typeface="+mj-lt"/>
            </a:endParaRPr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58731C1D-78BA-E384-79A1-F1D7DFBABCC3}"/>
              </a:ext>
            </a:extLst>
          </p:cNvPr>
          <p:cNvPicPr/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1076" y="-145846"/>
            <a:ext cx="3613741" cy="133894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D7A7B74-ACDE-3952-607E-91F98A156E41}"/>
              </a:ext>
            </a:extLst>
          </p:cNvPr>
          <p:cNvSpPr txBox="1"/>
          <p:nvPr/>
        </p:nvSpPr>
        <p:spPr>
          <a:xfrm>
            <a:off x="309713" y="4524888"/>
            <a:ext cx="427317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Innovación </a:t>
            </a:r>
          </a:p>
          <a:p>
            <a:r>
              <a:rPr lang="es-ES_tradnl" sz="4000" dirty="0">
                <a:solidFill>
                  <a:schemeClr val="bg1"/>
                </a:solidFill>
                <a:latin typeface="+mj-lt"/>
              </a:rPr>
              <a:t>Soy </a:t>
            </a:r>
            <a:r>
              <a:rPr lang="es-ES_tradnl" sz="4000" dirty="0" err="1">
                <a:solidFill>
                  <a:schemeClr val="bg1"/>
                </a:solidFill>
                <a:latin typeface="+mj-lt"/>
              </a:rPr>
              <a:t>Maker</a:t>
            </a:r>
            <a:endParaRPr lang="es-ES_tradnl" sz="4000" dirty="0">
              <a:solidFill>
                <a:schemeClr val="bg1"/>
              </a:solidFill>
              <a:latin typeface="+mj-lt"/>
            </a:endParaRPr>
          </a:p>
          <a:p>
            <a:r>
              <a:rPr lang="es-ES_tradnl" sz="4800" b="1" dirty="0">
                <a:solidFill>
                  <a:schemeClr val="bg1"/>
                </a:solidFill>
                <a:latin typeface="+mj-lt"/>
              </a:rPr>
              <a:t>Soy UAX</a:t>
            </a:r>
            <a:endParaRPr lang="es-ES_tradnl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2D642AB-E684-4603-A6BD-4087E8D9F867}"/>
              </a:ext>
            </a:extLst>
          </p:cNvPr>
          <p:cNvSpPr txBox="1"/>
          <p:nvPr/>
        </p:nvSpPr>
        <p:spPr>
          <a:xfrm>
            <a:off x="2132120" y="2333112"/>
            <a:ext cx="79277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4800" b="1" u="sng" dirty="0" err="1">
                <a:solidFill>
                  <a:schemeClr val="bg1"/>
                </a:solidFill>
                <a:latin typeface="+mj-lt"/>
              </a:rPr>
              <a:t>Thank</a:t>
            </a:r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 </a:t>
            </a:r>
            <a:r>
              <a:rPr lang="es-ES_tradnl" sz="4800" b="1" u="sng" dirty="0" err="1">
                <a:solidFill>
                  <a:schemeClr val="bg1"/>
                </a:solidFill>
                <a:latin typeface="+mj-lt"/>
              </a:rPr>
              <a:t>you</a:t>
            </a:r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!</a:t>
            </a:r>
          </a:p>
          <a:p>
            <a:pPr algn="ctr"/>
            <a:r>
              <a:rPr lang="es-ES_tradnl" sz="4800" b="1" u="sng" dirty="0">
                <a:solidFill>
                  <a:schemeClr val="bg1"/>
                </a:solidFill>
                <a:latin typeface="+mj-lt"/>
              </a:rPr>
              <a:t>Gracias!</a:t>
            </a:r>
          </a:p>
        </p:txBody>
      </p:sp>
    </p:spTree>
    <p:extLst>
      <p:ext uri="{BB962C8B-B14F-4D97-AF65-F5344CB8AC3E}">
        <p14:creationId xmlns:p14="http://schemas.microsoft.com/office/powerpoint/2010/main" val="1102219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M Roman 10">
      <a:majorFont>
        <a:latin typeface="LM Roman 10"/>
        <a:ea typeface=""/>
        <a:cs typeface=""/>
      </a:majorFont>
      <a:minorFont>
        <a:latin typeface="LM Roman 1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oceso xmlns="4bd470e1-a810-4dc7-a7f4-504af0e5f80d">PE01.01</Proceso>
    <Macroproceso xmlns="4bd470e1-a810-4dc7-a7f4-504af0e5f80d">LIDERAZGO Y ESTRATEGIA</Macroproceso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B84DA0D6C2ADE46966ECE7A6B7DD2B5" ma:contentTypeVersion="8" ma:contentTypeDescription="Crear nuevo documento." ma:contentTypeScope="" ma:versionID="36dcda6161a342f68f8c529063e8cda3">
  <xsd:schema xmlns:xsd="http://www.w3.org/2001/XMLSchema" xmlns:xs="http://www.w3.org/2001/XMLSchema" xmlns:p="http://schemas.microsoft.com/office/2006/metadata/properties" xmlns:ns2="4bd470e1-a810-4dc7-a7f4-504af0e5f80d" xmlns:ns3="94bf27de-86a6-4ac7-874e-21eaa1714b2f" targetNamespace="http://schemas.microsoft.com/office/2006/metadata/properties" ma:root="true" ma:fieldsID="0e2e7ed13747b05cb62c0c7df8d0962a" ns2:_="" ns3:_="">
    <xsd:import namespace="4bd470e1-a810-4dc7-a7f4-504af0e5f80d"/>
    <xsd:import namespace="94bf27de-86a6-4ac7-874e-21eaa1714b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acroproceso" minOccurs="0"/>
                <xsd:element ref="ns2:Proceso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470e1-a810-4dc7-a7f4-504af0e5f8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acroproceso" ma:index="10" nillable="true" ma:displayName="Macroproceso" ma:format="Dropdown" ma:internalName="Macroproceso">
      <xsd:simpleType>
        <xsd:restriction base="dms:Text">
          <xsd:maxLength value="255"/>
        </xsd:restriction>
      </xsd:simpleType>
    </xsd:element>
    <xsd:element name="Proceso" ma:index="11" nillable="true" ma:displayName="Proceso" ma:format="Dropdown" ma:internalName="Proceso">
      <xsd:simpleType>
        <xsd:restriction base="dms:Text">
          <xsd:maxLength value="255"/>
        </xsd:restriction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bf27de-86a6-4ac7-874e-21eaa1714b2f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FC8CCB-90C7-4014-A3CC-51D62035841A}">
  <ds:schemaRefs>
    <ds:schemaRef ds:uri="http://schemas.microsoft.com/office/2006/metadata/properties"/>
    <ds:schemaRef ds:uri="http://schemas.microsoft.com/office/infopath/2007/PartnerControls"/>
    <ds:schemaRef ds:uri="4bd470e1-a810-4dc7-a7f4-504af0e5f80d"/>
  </ds:schemaRefs>
</ds:datastoreItem>
</file>

<file path=customXml/itemProps2.xml><?xml version="1.0" encoding="utf-8"?>
<ds:datastoreItem xmlns:ds="http://schemas.openxmlformats.org/officeDocument/2006/customXml" ds:itemID="{2487E67B-EA3D-412C-8702-4A89E4D9D8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d470e1-a810-4dc7-a7f4-504af0e5f80d"/>
    <ds:schemaRef ds:uri="94bf27de-86a6-4ac7-874e-21eaa1714b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F8CADC5-B4F8-4677-9B61-54BC6C46CF0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1955</Words>
  <Application>Microsoft Office PowerPoint</Application>
  <PresentationFormat>Panorámica</PresentationFormat>
  <Paragraphs>251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Arial</vt:lpstr>
      <vt:lpstr>Calibri</vt:lpstr>
      <vt:lpstr>LM Roman 10</vt:lpstr>
      <vt:lpstr>Muli</vt:lpstr>
      <vt:lpstr>Segoe UI</vt:lpstr>
      <vt:lpstr>Segoe UI Semibold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Revisión por la Dirección</dc:title>
  <dc:creator>Javier Medina de Moya</dc:creator>
  <cp:lastModifiedBy>Pablo Jiménez Girardeau</cp:lastModifiedBy>
  <cp:revision>83</cp:revision>
  <cp:lastPrinted>2023-04-11T15:07:57Z</cp:lastPrinted>
  <dcterms:created xsi:type="dcterms:W3CDTF">2023-02-27T08:54:16Z</dcterms:created>
  <dcterms:modified xsi:type="dcterms:W3CDTF">2026-10-30T12:29:19Z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0x0101009B84DA0D6C2ADE46966ECE7A6B7DD2B5</vt:lpwstr>
  </property>
</Properties>
</file>